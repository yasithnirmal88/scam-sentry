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(All Members):</a:t>
            </a:r>
          </a:p>
          <a:p>
            <a:r>
              <a:t>Welcome Respected Lecturer and Examiners. We are Group 44, representing Computing, Software Engineering, and IT disciplines at KDU. Today we present 'Scam Sentry' — an Intelligent Fake Job Advertisement Detection System designed to safeguard job seekers from employment fraud using a multi-paradigm AI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1 - Amarakeerthi):</a:t>
            </a:r>
          </a:p>
          <a:p>
            <a:r>
              <a:t>As outlined in our project proposal, online recruitment is critical, yet millions of applicants face employment scams. Scammers deploy three main attack vectors: upfront registration fees, credential harvesting for identity theft, and off-platform phishing via WhatsApp and Telegram. Our objective is an AI system that protects users before they apply.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2 - Wickramanayaka):</a:t>
            </a:r>
          </a:p>
          <a:p>
            <a:r>
              <a:t>Here is the scientific turning point of our project. Initially, when we trained pure NLP word-based models, we noticed they learned shortcuts. For example, if many fake jobs in a training set happened to be for 'Assistants', the model flagged legitimate Assistant jobs as fake! Conversely, an executive-sounding scam asking for a wire deposit passed unnoticed. This proved to us that Pure ML is insufficient: we needed a Hybrid AI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1 - Amarakeerthi):</a:t>
            </a:r>
          </a:p>
          <a:p>
            <a:r>
              <a:t>To satisfy the academic criteria requiring at least three AI concepts, our system unites FOUR AI disciplines: First, a Heuristic Expert System with 13 deterministic fraud rules; Second, NLP text preprocessing and sublinear TF-IDF n-gram vectorization; Third, Supervised Machine Learning with Gradient Boosted decision trees; And fourth, Explainable AI and Computer Vision OCR. This multi-paradigm approach guarantees high accuracy without black-box opacity.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3 - Peiris):</a:t>
            </a:r>
          </a:p>
          <a:p>
            <a:r>
              <a:t>Here is our complete system architecture. The user can supply either text, a PDF document, or an image. Our ingestion layer extracts clean text via our intelligent OCR fallback. Next, the pipeline splits into two parallel tracks: Track A computes statistical TF-IDF word vectors, while Track B executes the 13 fraud heuristic rules. Both streams are horizontally concatenated into the Gradient Boosting model, producing a blended, explainable verdict.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3 - Peiris):</a:t>
            </a:r>
          </a:p>
          <a:p>
            <a:r>
              <a:t>One major engineering achievement is our intelligent OCR fallback. Job advertisements online are rarely clean text. Many are scanned PDFs or Instagram/Facebook image flyers. Direct PDF text extraction fails on scanned documents. Our engine tests whether page character count exceeds our threshold of 30 characters. If not, it automatically rasterizes the document at 200 DPI and invokes Tesseract OCR, ensuring zero data loss regardless of document format.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2 - Wickramanayaka):</a:t>
            </a:r>
          </a:p>
          <a:p>
            <a:r>
              <a:t>Here you see the 13 hand-crafted fraud indicators in fraud_features.py. These target the exact patterns fraudulent recruiters use. For instance, payment requests for 'training fees', asking for bank account or NIC copies prematurely, recruiting strictly via Telegram or WhatsApp, or offering thousands of dollars for zero experience. Each rule produces an individual feature and contributes to an aggregate Fraud Rule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4 - Amarasinghe):</a:t>
            </a:r>
          </a:p>
          <a:p>
            <a:r>
              <a:t>For our supervised learning core, we utilize Gradient Boosted Decision Trees. We extract unigram and bigram TF-IDF vectors with sublinear frequency scaling and merge them directly with our dense rule vector. Crucially, our synthetic dataset balances job titles across both classes, ensuring the model learns true fraud mechanics rather than correlating job titles with fraud. The architecture is fully compatible with Kaggle's EMSCAD real dataset.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4 - Amarasinghe):</a:t>
            </a:r>
          </a:p>
          <a:p>
            <a:r>
              <a:t>Explainable AI is a core requirement of this assignment. In Scam Sentry, the final decision is a hybrid blend: 65% from the ML probability and 35% from the heuristic rule score. Furthermore, we include a Deterministic Safety Override: if an upfront fee or bank credential request is confirmed, the system immediately flags the post as HIGH RISK, ensuring no scam slips through. Users receive clear, plain-English evidence badges rather than abstract SHAP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2 - Wickramanayaka):</a:t>
            </a:r>
          </a:p>
          <a:p>
            <a:r>
              <a:t>Now we transition to the live system demonstration! Our application is currently running locally on port 5000. As seen on screen, we built Quick Test Presets directly into the UI: Clicking Preset 1 analyzes a real Virtusa software engineer post — verdict: Genuine with 98.33% confidence. Clicking Preset 2 injects an upfront fee scam — the system instantly detects the $50 registration fee and Telegram handle, flagging it as High Risk with 85.02% confidence. Our OCR engine also reads uploaded flyer screenshots flawlessly.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2 - Wickramanayaka):</a:t>
            </a:r>
          </a:p>
          <a:p>
            <a:r>
              <a:t>User experience is crucial for consumer adoption. We redesigned the frontend with a modern cyber-defense theme. It features dark glassmorphism, an interactive HTML5 canvas neural mesh, triple staggered laser scanning lines on a 10-second cadence, and an animated circular risk gauge. Everything runs in lightweight vanilla HTML/CSS/JS with zero heavy external frontend frameworks, keeping latency virtually zero.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4 - Amarasinghe):</a:t>
            </a:r>
          </a:p>
          <a:p>
            <a:r>
              <a:t>Examining our prototype metrics: genuine postings achieve 98.33% confidence, while advance-fee scams are caught at 85.02% confidence. Text inference runs in under 120 milliseconds, and our OCR fallback achieved 100% extraction success on our test suite. As noted in our progress report, these are prototype results on balanced data; extensive unseen testing on real Kaggle datasets is planned before final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1 - Amarakeerthi):</a:t>
            </a:r>
          </a:p>
          <a:p>
            <a:r>
              <a:t>A hallmark of a strong engineering project is overcoming unexpected technical problems. During early development, we encountered three major issues: First, Pandas build failures on Python 3.13, resolved by upgrading to pandas 3.0; Second, Pickle serialization mismatches when feature definitions evolved, solved by implementing automated retrain scripts; And third, missing Tesseract paths on Windows, solved by adding automated binary detection in ocr_utils.py.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(Speaker 3 - Peiris):</a:t>
            </a:r>
          </a:p>
          <a:p>
            <a:r>
              <a:t>Responsible AI is essential. Our system adheres strictly to ethical standards: First, Data Privacy: uploaded files are processed entirely in memory and never persisted to disk. Second, Fairness: we actively mitigate bias so legitimate startups using Gmail aren't automatically blacklisted. Third, Human Responsibility: Scam Sentry serves as an advisory assistant, clearly presenting evidence so the human remains the final decision-maker.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(All Members):</a:t>
            </a:r>
          </a:p>
          <a:p>
            <a:r>
              <a:t>As mandated by the assignment guidelines, here is our individual contribution breakdown. Every member carried a specific 25% ownership stake across Architecture, Frontend Engineering, NLP &amp; Feature Engineering, and Dataset Evaluation. All four of us actively participated in writing code, testing, and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(All Members):</a:t>
            </a:r>
          </a:p>
          <a:p>
            <a:r>
              <a:t>In conclusion, Scam Sentry demonstrates that intelligent systems do not need to be opaque black boxes to be effective. By uniting heuristic domain rules with machine learning, we create an explainable, practical shield for job seekers. We are on track to complete our final evaluation and benchmark comparisons for Stage 3. Thank you for your time,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4846320"/>
          </a:xfrm>
          <a:prstGeom prst="rect">
            <a:avLst/>
          </a:prstGeom>
          <a:noFill/>
        </p:spPr>
        <p:txBody>
          <a:bodyPr wrap="square">
            <a:spAutoFit/>
          </a:bodyPr>
          <a:lstStyle/>
          <a:p>
            <a:pPr>
              <a:spcAft>
                <a:spcPts val="1400"/>
              </a:spcAft>
              <a:defRPr sz="1200" b="1">
                <a:solidFill>
                  <a:srgbClr val="06B6D4"/>
                </a:solidFill>
                <a:latin typeface="Arial"/>
              </a:defRPr>
            </a:pPr>
            <a:r>
              <a:t>GENERAL SIR JOHN KOTELAWALA DEFENCE UNIVERSITY</a:t>
            </a:r>
            <a:br/>
            <a:r>
              <a:t>DEPARTMENT OF INFORMATION TECHNOLOGY — FACULTY OF COMPUTING</a:t>
            </a:r>
          </a:p>
          <a:p>
            <a:pPr>
              <a:spcAft>
                <a:spcPts val="800"/>
              </a:spcAft>
              <a:defRPr sz="3200" b="1">
                <a:solidFill>
                  <a:srgbClr val="F8FAFC"/>
                </a:solidFill>
                <a:latin typeface="Arial"/>
              </a:defRPr>
            </a:pPr>
            <a:r>
              <a:t>Intelligent Fake Job Advertisement</a:t>
            </a:r>
            <a:br/>
            <a:r>
              <a:t>Detection System Using AI</a:t>
            </a:r>
          </a:p>
          <a:p>
            <a:pPr>
              <a:spcAft>
                <a:spcPts val="2800"/>
              </a:spcAft>
              <a:defRPr sz="1400">
                <a:solidFill>
                  <a:srgbClr val="94A3B8"/>
                </a:solidFill>
                <a:latin typeface="Arial"/>
              </a:defRPr>
            </a:pPr>
            <a:r>
              <a:t>Scam Sentry: A Multimodal, Hybrid AI Architecture for Transparent Recruitment Fraud Verification</a:t>
            </a:r>
          </a:p>
          <a:p>
            <a:pPr>
              <a:spcAft>
                <a:spcPts val="1000"/>
              </a:spcAft>
              <a:defRPr sz="1200" b="1">
                <a:solidFill>
                  <a:srgbClr val="6366F1"/>
                </a:solidFill>
                <a:latin typeface="Arial"/>
              </a:defRPr>
            </a:pPr>
            <a:r>
              <a:t>Prepared by Group 44 | Essentials of Artificial Intelligence (10-Week Project)</a:t>
            </a:r>
          </a:p>
          <a:p>
            <a:pPr>
              <a:defRPr sz="1100">
                <a:solidFill>
                  <a:srgbClr val="F8FAFC"/>
                </a:solidFill>
                <a:latin typeface="Consolas"/>
              </a:defRPr>
            </a:pPr>
            <a:r>
              <a:t>• P.D.H.R. Amarakeerthi (D/COE/25/0025)   • W.M.S.N. Wickramanayaka (D/BIT/24/0090)</a:t>
            </a:r>
            <a:br/>
            <a:r>
              <a:t>• S.Y.N. Peiris (D/BSE/25/0018)         • D.W.D.O. Amarasinghe (D/BIS/24/0011)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01 / THE REAL-WORLD PROBLEM</a:t>
            </a:r>
          </a:p>
          <a:p>
            <a:pPr>
              <a:spcAft>
                <a:spcPts val="200"/>
              </a:spcAft>
              <a:defRPr sz="2200" b="1">
                <a:solidFill>
                  <a:srgbClr val="F8FAFC"/>
                </a:solidFill>
                <a:latin typeface="Arial"/>
              </a:defRPr>
            </a:pPr>
            <a:r>
              <a:t>The Proliferation of Online Recruitment Scams</a:t>
            </a:r>
          </a:p>
          <a:p>
            <a:pPr>
              <a:defRPr sz="1200">
                <a:solidFill>
                  <a:srgbClr val="94A3B8"/>
                </a:solidFill>
                <a:latin typeface="Arial"/>
              </a:defRPr>
            </a:pPr>
            <a:r>
              <a:t>Recruitment fraud causes severe financial and psychological harm to vulnerable job seekers.</a:t>
            </a:r>
          </a:p>
        </p:txBody>
      </p:sp>
      <p:sp>
        <p:nvSpPr>
          <p:cNvPr id="4" name="Rounded Rectangle 3"/>
          <p:cNvSpPr/>
          <p:nvPr/>
        </p:nvSpPr>
        <p:spPr>
          <a:xfrm>
            <a:off x="731520" y="1645920"/>
            <a:ext cx="329184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26080" cy="4114800"/>
          </a:xfrm>
          <a:prstGeom prst="rect">
            <a:avLst/>
          </a:prstGeom>
          <a:noFill/>
        </p:spPr>
        <p:txBody>
          <a:bodyPr wrap="square">
            <a:spAutoFit/>
          </a:bodyPr>
          <a:lstStyle/>
          <a:p>
            <a:pPr>
              <a:spcAft>
                <a:spcPts val="1000"/>
              </a:spcAft>
              <a:defRPr sz="1200" b="1">
                <a:solidFill>
                  <a:srgbClr val="F43F5E"/>
                </a:solidFill>
              </a:defRPr>
            </a:pPr>
            <a:r>
              <a:t>THE THREAT</a:t>
            </a:r>
          </a:p>
          <a:p>
            <a:pPr>
              <a:defRPr sz="1100">
                <a:solidFill>
                  <a:srgbClr val="94A3B8"/>
                </a:solidFill>
              </a:defRPr>
            </a:pPr>
            <a:r>
              <a:t>• Global explosion of fake remote &amp; data entry jobs on LinkedIn, Facebook, and Telegram.</a:t>
            </a:r>
            <a:br/>
            <a:r>
              <a:t>• Advanced social engineering mimicking legitimate corporate recruiters.</a:t>
            </a:r>
            <a:br/>
            <a:r>
              <a:t>• Exploits economic vulnerability and unemployment.</a:t>
            </a:r>
          </a:p>
        </p:txBody>
      </p:sp>
      <p:sp>
        <p:nvSpPr>
          <p:cNvPr id="6" name="Rounded Rectangle 5"/>
          <p:cNvSpPr/>
          <p:nvPr/>
        </p:nvSpPr>
        <p:spPr>
          <a:xfrm>
            <a:off x="4389120" y="1645920"/>
            <a:ext cx="329184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2926080" cy="4114800"/>
          </a:xfrm>
          <a:prstGeom prst="rect">
            <a:avLst/>
          </a:prstGeom>
          <a:noFill/>
        </p:spPr>
        <p:txBody>
          <a:bodyPr wrap="square">
            <a:spAutoFit/>
          </a:bodyPr>
          <a:lstStyle/>
          <a:p>
            <a:pPr>
              <a:spcAft>
                <a:spcPts val="1000"/>
              </a:spcAft>
              <a:defRPr sz="1200" b="1">
                <a:solidFill>
                  <a:srgbClr val="F59E0B"/>
                </a:solidFill>
              </a:defRPr>
            </a:pPr>
            <a:r>
              <a:t>SCAM MECHANICS</a:t>
            </a:r>
          </a:p>
          <a:p>
            <a:pPr>
              <a:defRPr sz="1100">
                <a:solidFill>
                  <a:srgbClr val="94A3B8"/>
                </a:solidFill>
              </a:defRPr>
            </a:pPr>
            <a:r>
              <a:t>• Advance Upfront Fees:</a:t>
            </a:r>
            <a:br/>
            <a:r>
              <a:t>  Disguised as 'registration', 'onboarding training', or 'equipment security deposits'.</a:t>
            </a:r>
            <a:br/>
            <a:r>
              <a:t>• Identity Harvesting:</a:t>
            </a:r>
            <a:br/>
            <a:r>
              <a:t>  Extracting NIC, Passport, and Bank credentials prematurely.</a:t>
            </a:r>
            <a:br/>
            <a:r>
              <a:t>• Phishing &amp; Task Scams:</a:t>
            </a:r>
            <a:br/>
            <a:r>
              <a:t>  Routing to WhatsApp / Telegram bot tasks.</a:t>
            </a:r>
          </a:p>
        </p:txBody>
      </p:sp>
      <p:sp>
        <p:nvSpPr>
          <p:cNvPr id="8" name="Rounded Rectangle 7"/>
          <p:cNvSpPr/>
          <p:nvPr/>
        </p:nvSpPr>
        <p:spPr>
          <a:xfrm>
            <a:off x="80467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114800"/>
          </a:xfrm>
          <a:prstGeom prst="rect">
            <a:avLst/>
          </a:prstGeom>
          <a:noFill/>
        </p:spPr>
        <p:txBody>
          <a:bodyPr wrap="square">
            <a:spAutoFit/>
          </a:bodyPr>
          <a:lstStyle/>
          <a:p>
            <a:pPr>
              <a:spcAft>
                <a:spcPts val="1000"/>
              </a:spcAft>
              <a:defRPr sz="1200" b="1">
                <a:solidFill>
                  <a:srgbClr val="06B6D4"/>
                </a:solidFill>
              </a:defRPr>
            </a:pPr>
            <a:r>
              <a:t>OUR GOAL</a:t>
            </a:r>
          </a:p>
          <a:p>
            <a:pPr>
              <a:defRPr sz="1100">
                <a:solidFill>
                  <a:srgbClr val="94A3B8"/>
                </a:solidFill>
              </a:defRPr>
            </a:pPr>
            <a:r>
              <a:t>Empower Job Seekers to:</a:t>
            </a:r>
            <a:br/>
            <a:r>
              <a:t>• Verify advertisements instantly before submitting personal data or paying fees.</a:t>
            </a:r>
            <a:br/>
            <a:r>
              <a:t>• Accept Multimodal inputs: raw text, PDF flyers, image screenshots.</a:t>
            </a:r>
            <a:br/>
            <a:r>
              <a:t>• Provide Transparent AI Explanations so decisions are never opaque black boxes.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02 / SCIENTIFIC MOTIVATION</a:t>
            </a:r>
          </a:p>
          <a:p>
            <a:pPr>
              <a:spcAft>
                <a:spcPts val="200"/>
              </a:spcAft>
              <a:defRPr sz="2200" b="1">
                <a:solidFill>
                  <a:srgbClr val="F8FAFC"/>
                </a:solidFill>
                <a:latin typeface="Arial"/>
              </a:defRPr>
            </a:pPr>
            <a:r>
              <a:t>The Critical AI Flaw: Why Pure ML Fails</a:t>
            </a:r>
          </a:p>
          <a:p>
            <a:pPr>
              <a:defRPr sz="1200">
                <a:solidFill>
                  <a:srgbClr val="94A3B8"/>
                </a:solidFill>
                <a:latin typeface="Arial"/>
              </a:defRPr>
            </a:pPr>
            <a:r>
              <a:t>Empirical findings showed pure word-association models suffer from severe shortcut learning.</a:t>
            </a:r>
          </a:p>
        </p:txBody>
      </p:sp>
      <p:sp>
        <p:nvSpPr>
          <p:cNvPr id="4" name="Rounded Rectangle 3"/>
          <p:cNvSpPr/>
          <p:nvPr/>
        </p:nvSpPr>
        <p:spPr>
          <a:xfrm>
            <a:off x="731520" y="1645920"/>
            <a:ext cx="10728655"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114800"/>
          </a:xfrm>
          <a:prstGeom prst="rect">
            <a:avLst/>
          </a:prstGeom>
          <a:noFill/>
        </p:spPr>
        <p:txBody>
          <a:bodyPr wrap="square">
            <a:spAutoFit/>
          </a:bodyPr>
          <a:lstStyle/>
          <a:p>
            <a:pPr>
              <a:spcAft>
                <a:spcPts val="800"/>
              </a:spcAft>
              <a:defRPr sz="1600" b="1">
                <a:solidFill>
                  <a:srgbClr val="F43F5E"/>
                </a:solidFill>
              </a:defRPr>
            </a:pPr>
            <a:r>
              <a:t>The 'Shortcut Learning' Trap in Recruitment Fraud Detection</a:t>
            </a:r>
          </a:p>
          <a:p>
            <a:pPr>
              <a:spcAft>
                <a:spcPts val="1400"/>
              </a:spcAft>
              <a:defRPr sz="1200">
                <a:solidFill>
                  <a:srgbClr val="F8FAFC"/>
                </a:solidFill>
              </a:defRPr>
            </a:pPr>
            <a:r>
              <a:t>Standard machine learning approaches train classifiers (like Naive Bayes or SVM) purely on word frequency (TF-IDF bag-of-words). In our testing notes, this caused critical failures:</a:t>
            </a:r>
          </a:p>
        </p:txBody>
      </p:sp>
      <p:graphicFrame>
        <p:nvGraphicFramePr>
          <p:cNvPr id="6" name="Table 5"/>
          <p:cNvGraphicFramePr>
            <a:graphicFrameLocks noGrp="1"/>
          </p:cNvGraphicFramePr>
          <p:nvPr/>
        </p:nvGraphicFramePr>
        <p:xfrm>
          <a:off x="1005840" y="2926080"/>
          <a:ext cx="10149840" cy="2560320"/>
        </p:xfrm>
        <a:graphic>
          <a:graphicData uri="http://schemas.openxmlformats.org/drawingml/2006/table">
            <a:tbl>
              <a:tblPr firstRow="1" bandRow="1">
                <a:tableStyleId>{5C22544A-7EE6-4342-B048-85BDC9FD1C3A}</a:tableStyleId>
              </a:tblPr>
              <a:tblGrid>
                <a:gridCol w="2926080"/>
                <a:gridCol w="3657600"/>
                <a:gridCol w="3566160"/>
              </a:tblGrid>
              <a:tr h="640080">
                <a:tc>
                  <a:txBody>
                    <a:bodyPr/>
                    <a:lstStyle/>
                    <a:p>
                      <a:pPr>
                        <a:defRPr b="1" sz="1000">
                          <a:solidFill>
                            <a:srgbClr val="06B6D4"/>
                          </a:solidFill>
                        </a:defRPr>
                      </a:pPr>
                      <a:r>
                        <a:t>CRITERION</a:t>
                      </a:r>
                    </a:p>
                  </a:txBody>
                  <a:tcPr>
                    <a:solidFill>
                      <a:srgbClr val="1E293B"/>
                    </a:solidFill>
                  </a:tcPr>
                </a:tc>
                <a:tc>
                  <a:txBody>
                    <a:bodyPr/>
                    <a:lstStyle/>
                    <a:p>
                      <a:pPr>
                        <a:defRPr b="1" sz="1000">
                          <a:solidFill>
                            <a:srgbClr val="06B6D4"/>
                          </a:solidFill>
                        </a:defRPr>
                      </a:pPr>
                      <a:r>
                        <a:t>CONVENTIONAL PURE ML MODEL</a:t>
                      </a:r>
                    </a:p>
                  </a:txBody>
                  <a:tcPr>
                    <a:solidFill>
                      <a:srgbClr val="1E293B"/>
                    </a:solidFill>
                  </a:tcPr>
                </a:tc>
                <a:tc>
                  <a:txBody>
                    <a:bodyPr/>
                    <a:lstStyle/>
                    <a:p>
                      <a:pPr>
                        <a:defRPr b="1" sz="1000">
                          <a:solidFill>
                            <a:srgbClr val="06B6D4"/>
                          </a:solidFill>
                        </a:defRPr>
                      </a:pPr>
                      <a:r>
                        <a:t>SCAM SENTRY HYBRID APPROACH</a:t>
                      </a:r>
                    </a:p>
                  </a:txBody>
                  <a:tcPr>
                    <a:solidFill>
                      <a:srgbClr val="1E293B"/>
                    </a:solidFill>
                  </a:tcPr>
                </a:tc>
              </a:tr>
              <a:tr h="640080">
                <a:tc>
                  <a:txBody>
                    <a:bodyPr/>
                    <a:lstStyle/>
                    <a:p>
                      <a:pPr>
                        <a:defRPr sz="950">
                          <a:solidFill>
                            <a:srgbClr val="94A3B8"/>
                          </a:solidFill>
                        </a:defRPr>
                      </a:pPr>
                      <a:r>
                        <a:t>Benign Common Words</a:t>
                      </a:r>
                    </a:p>
                    <a:p>
                      <a:pPr>
                        <a:defRPr sz="950">
                          <a:solidFill>
                            <a:srgbClr val="94A3B8"/>
                          </a:solidFill>
                        </a:defRPr>
                      </a:pPr>
                      <a:r>
                        <a:t>('assistant', 'entry-level', 'flexible')</a:t>
                      </a:r>
                    </a:p>
                  </a:txBody>
                  <a:tcPr>
                    <a:solidFill>
                      <a:srgbClr val="131B2A"/>
                    </a:solidFill>
                  </a:tcPr>
                </a:tc>
                <a:tc>
                  <a:txBody>
                    <a:bodyPr/>
                    <a:lstStyle/>
                    <a:p>
                      <a:pPr>
                        <a:defRPr sz="950">
                          <a:solidFill>
                            <a:srgbClr val="94A3B8"/>
                          </a:solidFill>
                        </a:defRPr>
                      </a:pPr>
                      <a:r>
                        <a:t>Penalized as Fake due to dataset frequency imbalance (False Positive).</a:t>
                      </a:r>
                    </a:p>
                  </a:txBody>
                  <a:tcPr>
                    <a:solidFill>
                      <a:srgbClr val="131B2A"/>
                    </a:solidFill>
                  </a:tcPr>
                </a:tc>
                <a:tc>
                  <a:txBody>
                    <a:bodyPr/>
                    <a:lstStyle/>
                    <a:p>
                      <a:pPr>
                        <a:defRPr sz="950">
                          <a:solidFill>
                            <a:srgbClr val="F8FAFC"/>
                          </a:solidFill>
                        </a:defRPr>
                      </a:pPr>
                      <a:r>
                        <a:t>Contextualized with 13 heuristic rules — benign words never trigger fake alerts.</a:t>
                      </a:r>
                    </a:p>
                  </a:txBody>
                  <a:tcPr>
                    <a:solidFill>
                      <a:srgbClr val="131B2A"/>
                    </a:solidFill>
                  </a:tcPr>
                </a:tc>
              </a:tr>
              <a:tr h="640080">
                <a:tc>
                  <a:txBody>
                    <a:bodyPr/>
                    <a:lstStyle/>
                    <a:p>
                      <a:pPr>
                        <a:defRPr sz="950">
                          <a:solidFill>
                            <a:srgbClr val="94A3B8"/>
                          </a:solidFill>
                        </a:defRPr>
                      </a:pPr>
                      <a:r>
                        <a:t>Sophisticated Fake Ads</a:t>
                      </a:r>
                    </a:p>
                    <a:p>
                      <a:pPr>
                        <a:defRPr sz="950">
                          <a:solidFill>
                            <a:srgbClr val="94A3B8"/>
                          </a:solidFill>
                        </a:defRPr>
                      </a:pPr>
                      <a:r>
                        <a:t>(Well-written corporate text + fee)</a:t>
                      </a:r>
                    </a:p>
                  </a:txBody>
                  <a:tcPr>
                    <a:solidFill>
                      <a:srgbClr val="131B2A"/>
                    </a:solidFill>
                  </a:tcPr>
                </a:tc>
                <a:tc>
                  <a:txBody>
                    <a:bodyPr/>
                    <a:lstStyle/>
                    <a:p>
                      <a:pPr>
                        <a:defRPr sz="950">
                          <a:solidFill>
                            <a:srgbClr val="94A3B8"/>
                          </a:solidFill>
                        </a:defRPr>
                      </a:pPr>
                      <a:r>
                        <a:t>Classified as Genuine because professional words dominate the vector.</a:t>
                      </a:r>
                    </a:p>
                  </a:txBody>
                  <a:tcPr>
                    <a:solidFill>
                      <a:srgbClr val="131B2A"/>
                    </a:solidFill>
                  </a:tcPr>
                </a:tc>
                <a:tc>
                  <a:txBody>
                    <a:bodyPr/>
                    <a:lstStyle/>
                    <a:p>
                      <a:pPr>
                        <a:defRPr sz="950">
                          <a:solidFill>
                            <a:srgbClr val="F8FAFC"/>
                          </a:solidFill>
                        </a:defRPr>
                      </a:pPr>
                      <a:r>
                        <a:t>Caught instantly by explicit Payment Request heuristic detector.</a:t>
                      </a:r>
                    </a:p>
                  </a:txBody>
                  <a:tcPr>
                    <a:solidFill>
                      <a:srgbClr val="131B2A"/>
                    </a:solidFill>
                  </a:tcPr>
                </a:tc>
              </a:tr>
              <a:tr h="640080">
                <a:tc>
                  <a:txBody>
                    <a:bodyPr/>
                    <a:lstStyle/>
                    <a:p>
                      <a:pPr>
                        <a:defRPr sz="950">
                          <a:solidFill>
                            <a:srgbClr val="94A3B8"/>
                          </a:solidFill>
                        </a:defRPr>
                      </a:pPr>
                      <a:r>
                        <a:t>Explainability &amp; XAI</a:t>
                      </a:r>
                    </a:p>
                  </a:txBody>
                  <a:tcPr>
                    <a:solidFill>
                      <a:srgbClr val="131B2A"/>
                    </a:solidFill>
                  </a:tcPr>
                </a:tc>
                <a:tc>
                  <a:txBody>
                    <a:bodyPr/>
                    <a:lstStyle/>
                    <a:p>
                      <a:pPr>
                        <a:defRPr sz="950">
                          <a:solidFill>
                            <a:srgbClr val="94A3B8"/>
                          </a:solidFill>
                        </a:defRPr>
                      </a:pPr>
                      <a:r>
                        <a:t>Raw SHAP word dump: e.g. 'assistant = +0.18' (confusing &amp; meaningless to user).</a:t>
                      </a:r>
                    </a:p>
                  </a:txBody>
                  <a:tcPr>
                    <a:solidFill>
                      <a:srgbClr val="131B2A"/>
                    </a:solidFill>
                  </a:tcPr>
                </a:tc>
                <a:tc>
                  <a:txBody>
                    <a:bodyPr/>
                    <a:lstStyle/>
                    <a:p>
                      <a:pPr>
                        <a:defRPr sz="950">
                          <a:solidFill>
                            <a:srgbClr val="F8FAFC"/>
                          </a:solidFill>
                        </a:defRPr>
                      </a:pPr>
                      <a:r>
                        <a:t>Actionable Evidence Badges: e.g. 'Payment Request Detected: Upfront Fee' (actionable).</a:t>
                      </a:r>
                    </a:p>
                  </a:txBody>
                  <a:tcPr>
                    <a:solidFill>
                      <a:srgbClr val="131B2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03 / PROPOSED AI APPROACH</a:t>
            </a:r>
          </a:p>
          <a:p>
            <a:pPr>
              <a:spcAft>
                <a:spcPts val="200"/>
              </a:spcAft>
              <a:defRPr sz="2200" b="1">
                <a:solidFill>
                  <a:srgbClr val="F8FAFC"/>
                </a:solidFill>
                <a:latin typeface="Arial"/>
              </a:defRPr>
            </a:pPr>
            <a:r>
              <a:t>Multi-Paradigm AI Architecture (4 Core Techniques)</a:t>
            </a:r>
          </a:p>
          <a:p>
            <a:pPr>
              <a:defRPr sz="1200">
                <a:solidFill>
                  <a:srgbClr val="94A3B8"/>
                </a:solidFill>
                <a:latin typeface="Arial"/>
              </a:defRPr>
            </a:pPr>
            <a:r>
              <a:t>Directly meeting the lecturer's guideline requiring at least three AI-related concepts.</a:t>
            </a:r>
          </a:p>
        </p:txBody>
      </p:sp>
      <p:sp>
        <p:nvSpPr>
          <p:cNvPr id="4" name="Rounded Rectangle 3"/>
          <p:cNvSpPr/>
          <p:nvPr/>
        </p:nvSpPr>
        <p:spPr>
          <a:xfrm>
            <a:off x="731520" y="1645920"/>
            <a:ext cx="10728655" cy="1005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822960"/>
          </a:xfrm>
          <a:prstGeom prst="rect">
            <a:avLst/>
          </a:prstGeom>
          <a:noFill/>
        </p:spPr>
        <p:txBody>
          <a:bodyPr wrap="square">
            <a:spAutoFit/>
          </a:bodyPr>
          <a:lstStyle/>
          <a:p>
            <a:pPr>
              <a:defRPr sz="1200" b="1">
                <a:solidFill>
                  <a:srgbClr val="06B6D4"/>
                </a:solidFill>
              </a:defRPr>
            </a:pPr>
            <a:r>
              <a:t>1. HEURISTIC &amp; RULE-BASED AI  —  Expert Decision Engine</a:t>
            </a:r>
          </a:p>
          <a:p>
            <a:pPr>
              <a:defRPr sz="1050">
                <a:solidFill>
                  <a:srgbClr val="94A3B8"/>
                </a:solidFill>
              </a:defRPr>
            </a:pPr>
            <a:r>
              <a:t>13 domain-specific heuristic rules with weighted threat scoring. Identifies explicit payment requests, sensitive PII harvesting, free emails, and salary-to-experience anomalies deterministically.</a:t>
            </a:r>
          </a:p>
        </p:txBody>
      </p:sp>
      <p:sp>
        <p:nvSpPr>
          <p:cNvPr id="6" name="Rounded Rectangle 5"/>
          <p:cNvSpPr/>
          <p:nvPr/>
        </p:nvSpPr>
        <p:spPr>
          <a:xfrm>
            <a:off x="731520" y="2788920"/>
            <a:ext cx="10728655" cy="1005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80360"/>
            <a:ext cx="10332720" cy="822960"/>
          </a:xfrm>
          <a:prstGeom prst="rect">
            <a:avLst/>
          </a:prstGeom>
          <a:noFill/>
        </p:spPr>
        <p:txBody>
          <a:bodyPr wrap="square">
            <a:spAutoFit/>
          </a:bodyPr>
          <a:lstStyle/>
          <a:p>
            <a:pPr>
              <a:defRPr sz="1200" b="1">
                <a:solidFill>
                  <a:srgbClr val="6366F1"/>
                </a:solidFill>
              </a:defRPr>
            </a:pPr>
            <a:r>
              <a:t>2. NATURAL LANGUAGE PROCESSING  —  Text Vectorization (TF-IDF)</a:t>
            </a:r>
          </a:p>
          <a:p>
            <a:pPr>
              <a:defRPr sz="1050">
                <a:solidFill>
                  <a:srgbClr val="94A3B8"/>
                </a:solidFill>
              </a:defRPr>
            </a:pPr>
            <a:r>
              <a:t>Regex entity masking (URLs, emails), lowercase normalization, custom stopword pruning, and sublinear TF-IDF (1,2) N-gram extraction to capture contextual phrases.</a:t>
            </a:r>
          </a:p>
        </p:txBody>
      </p:sp>
      <p:sp>
        <p:nvSpPr>
          <p:cNvPr id="8" name="Rounded Rectangle 7"/>
          <p:cNvSpPr/>
          <p:nvPr/>
        </p:nvSpPr>
        <p:spPr>
          <a:xfrm>
            <a:off x="731520" y="3931920"/>
            <a:ext cx="10728655" cy="1005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10332720" cy="822960"/>
          </a:xfrm>
          <a:prstGeom prst="rect">
            <a:avLst/>
          </a:prstGeom>
          <a:noFill/>
        </p:spPr>
        <p:txBody>
          <a:bodyPr wrap="square">
            <a:spAutoFit/>
          </a:bodyPr>
          <a:lstStyle/>
          <a:p>
            <a:pPr>
              <a:defRPr sz="1200" b="1">
                <a:solidFill>
                  <a:srgbClr val="10B981"/>
                </a:solidFill>
              </a:defRPr>
            </a:pPr>
            <a:r>
              <a:t>3. SUPERVISED MACHINE LEARNING  —  Gradient Boosted Trees</a:t>
            </a:r>
          </a:p>
          <a:p>
            <a:pPr>
              <a:defRPr sz="1050">
                <a:solidFill>
                  <a:srgbClr val="94A3B8"/>
                </a:solidFill>
              </a:defRPr>
            </a:pPr>
            <a:r>
              <a:t>Ensemble classification via Scikit-Learn GradientBoosting / XGBoost. Combines dense rule features with sparse TF-IDF vectors using horizontal matrix union (scipy.sparse.hstack).</a:t>
            </a:r>
          </a:p>
        </p:txBody>
      </p:sp>
      <p:sp>
        <p:nvSpPr>
          <p:cNvPr id="10" name="Rounded Rectangle 9"/>
          <p:cNvSpPr/>
          <p:nvPr/>
        </p:nvSpPr>
        <p:spPr>
          <a:xfrm>
            <a:off x="731520" y="5074920"/>
            <a:ext cx="10728655" cy="1005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66360"/>
            <a:ext cx="10332720" cy="822960"/>
          </a:xfrm>
          <a:prstGeom prst="rect">
            <a:avLst/>
          </a:prstGeom>
          <a:noFill/>
        </p:spPr>
        <p:txBody>
          <a:bodyPr wrap="square">
            <a:spAutoFit/>
          </a:bodyPr>
          <a:lstStyle/>
          <a:p>
            <a:pPr>
              <a:defRPr sz="1200" b="1">
                <a:solidFill>
                  <a:srgbClr val="F59E0B"/>
                </a:solidFill>
              </a:defRPr>
            </a:pPr>
            <a:r>
              <a:t>4. EXPLAINABLE AI &amp; OCR VISION  —  Transparent Hybrid Synthesis</a:t>
            </a:r>
          </a:p>
          <a:p>
            <a:pPr>
              <a:defRPr sz="1050">
                <a:solidFill>
                  <a:srgbClr val="94A3B8"/>
                </a:solidFill>
              </a:defRPr>
            </a:pPr>
            <a:r>
              <a:t>Dual-mode OCR (Tesseract v5.5.3 + pdfplumber fallback) coupled with Actionable Evidence Synthesis that renders human-readable risk badges instead of black-box scores.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04 / SYSTEM DESIGN</a:t>
            </a:r>
          </a:p>
          <a:p>
            <a:pPr>
              <a:spcAft>
                <a:spcPts val="200"/>
              </a:spcAft>
              <a:defRPr sz="2200" b="1">
                <a:solidFill>
                  <a:srgbClr val="F8FAFC"/>
                </a:solidFill>
                <a:latin typeface="Arial"/>
              </a:defRPr>
            </a:pPr>
            <a:r>
              <a:t>End-to-End System Architecture</a:t>
            </a:r>
          </a:p>
          <a:p>
            <a:pPr>
              <a:defRPr sz="1200">
                <a:solidFill>
                  <a:srgbClr val="94A3B8"/>
                </a:solidFill>
                <a:latin typeface="Arial"/>
              </a:defRPr>
            </a:pPr>
            <a:r>
              <a:t>Data pipeline flow from raw multimodal ingestion to the synthesized verification report.</a:t>
            </a:r>
          </a:p>
        </p:txBody>
      </p:sp>
      <p:sp>
        <p:nvSpPr>
          <p:cNvPr id="4" name="Rounded Rectangle 3"/>
          <p:cNvSpPr/>
          <p:nvPr/>
        </p:nvSpPr>
        <p:spPr>
          <a:xfrm>
            <a:off x="731520" y="2011680"/>
            <a:ext cx="1920240" cy="3291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94560"/>
            <a:ext cx="1645920" cy="2926080"/>
          </a:xfrm>
          <a:prstGeom prst="rect">
            <a:avLst/>
          </a:prstGeom>
          <a:noFill/>
        </p:spPr>
        <p:txBody>
          <a:bodyPr wrap="square">
            <a:spAutoFit/>
          </a:bodyPr>
          <a:lstStyle/>
          <a:p>
            <a:pPr>
              <a:spcAft>
                <a:spcPts val="1200"/>
              </a:spcAft>
              <a:defRPr sz="1200" b="1">
                <a:solidFill>
                  <a:srgbClr val="06B6D4"/>
                </a:solidFill>
              </a:defRPr>
            </a:pPr>
            <a:r>
              <a:t>1. INGESTION</a:t>
            </a:r>
          </a:p>
          <a:p>
            <a:pPr>
              <a:defRPr sz="1050">
                <a:solidFill>
                  <a:srgbClr val="94A3B8"/>
                </a:solidFill>
              </a:defRPr>
            </a:pPr>
            <a:r>
              <a:t>Pasted Text</a:t>
            </a:r>
            <a:br/>
            <a:r>
              <a:t>PDF Document</a:t>
            </a:r>
            <a:br/>
            <a:r>
              <a:t>Image Flyer (PNG/JPG)</a:t>
            </a:r>
          </a:p>
        </p:txBody>
      </p:sp>
      <p:sp>
        <p:nvSpPr>
          <p:cNvPr id="6" name="TextBox 5"/>
          <p:cNvSpPr txBox="1"/>
          <p:nvPr/>
        </p:nvSpPr>
        <p:spPr>
          <a:xfrm>
            <a:off x="2651760" y="3291840"/>
            <a:ext cx="274320" cy="548640"/>
          </a:xfrm>
          <a:prstGeom prst="rect">
            <a:avLst/>
          </a:prstGeom>
          <a:noFill/>
        </p:spPr>
        <p:txBody>
          <a:bodyPr wrap="none">
            <a:spAutoFit/>
          </a:bodyPr>
          <a:lstStyle/>
          <a:p>
            <a:pPr>
              <a:defRPr sz="1600">
                <a:solidFill>
                  <a:srgbClr val="06B6D4"/>
                </a:solidFill>
              </a:defRPr>
            </a:pPr>
            <a:r>
              <a:t>➔</a:t>
            </a:r>
          </a:p>
        </p:txBody>
      </p:sp>
      <p:sp>
        <p:nvSpPr>
          <p:cNvPr id="7" name="Rounded Rectangle 6"/>
          <p:cNvSpPr/>
          <p:nvPr/>
        </p:nvSpPr>
        <p:spPr>
          <a:xfrm>
            <a:off x="2926080" y="2011680"/>
            <a:ext cx="1920240" cy="3291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2194560"/>
            <a:ext cx="1645920" cy="2926080"/>
          </a:xfrm>
          <a:prstGeom prst="rect">
            <a:avLst/>
          </a:prstGeom>
          <a:noFill/>
        </p:spPr>
        <p:txBody>
          <a:bodyPr wrap="square">
            <a:spAutoFit/>
          </a:bodyPr>
          <a:lstStyle/>
          <a:p>
            <a:pPr>
              <a:spcAft>
                <a:spcPts val="1200"/>
              </a:spcAft>
              <a:defRPr sz="1200" b="1">
                <a:solidFill>
                  <a:srgbClr val="6366F1"/>
                </a:solidFill>
              </a:defRPr>
            </a:pPr>
            <a:r>
              <a:t>2. OCR &amp; PARSE</a:t>
            </a:r>
          </a:p>
          <a:p>
            <a:pPr>
              <a:defRPr sz="1050">
                <a:solidFill>
                  <a:srgbClr val="94A3B8"/>
                </a:solidFill>
              </a:defRPr>
            </a:pPr>
            <a:r>
              <a:t>pdfplumber (Direct)</a:t>
            </a:r>
            <a:br/>
            <a:r>
              <a:t>Fallback to Tesseract</a:t>
            </a:r>
            <a:br/>
            <a:r>
              <a:t>OCR at &lt; 30 chars</a:t>
            </a:r>
          </a:p>
        </p:txBody>
      </p:sp>
      <p:sp>
        <p:nvSpPr>
          <p:cNvPr id="9" name="TextBox 8"/>
          <p:cNvSpPr txBox="1"/>
          <p:nvPr/>
        </p:nvSpPr>
        <p:spPr>
          <a:xfrm>
            <a:off x="4846320" y="3291840"/>
            <a:ext cx="274320" cy="548640"/>
          </a:xfrm>
          <a:prstGeom prst="rect">
            <a:avLst/>
          </a:prstGeom>
          <a:noFill/>
        </p:spPr>
        <p:txBody>
          <a:bodyPr wrap="none">
            <a:spAutoFit/>
          </a:bodyPr>
          <a:lstStyle/>
          <a:p>
            <a:pPr>
              <a:defRPr sz="1600">
                <a:solidFill>
                  <a:srgbClr val="06B6D4"/>
                </a:solidFill>
              </a:defRPr>
            </a:pPr>
            <a:r>
              <a:t>➔</a:t>
            </a:r>
          </a:p>
        </p:txBody>
      </p:sp>
      <p:sp>
        <p:nvSpPr>
          <p:cNvPr id="10" name="Rounded Rectangle 9"/>
          <p:cNvSpPr/>
          <p:nvPr/>
        </p:nvSpPr>
        <p:spPr>
          <a:xfrm>
            <a:off x="5120640" y="2011680"/>
            <a:ext cx="1920240" cy="3291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800" y="2194560"/>
            <a:ext cx="1645920" cy="2926080"/>
          </a:xfrm>
          <a:prstGeom prst="rect">
            <a:avLst/>
          </a:prstGeom>
          <a:noFill/>
        </p:spPr>
        <p:txBody>
          <a:bodyPr wrap="square">
            <a:spAutoFit/>
          </a:bodyPr>
          <a:lstStyle/>
          <a:p>
            <a:pPr>
              <a:spcAft>
                <a:spcPts val="1200"/>
              </a:spcAft>
              <a:defRPr sz="1200" b="1">
                <a:solidFill>
                  <a:srgbClr val="F8FAFC"/>
                </a:solidFill>
              </a:defRPr>
            </a:pPr>
            <a:r>
              <a:t>3. NLP &amp; RULES</a:t>
            </a:r>
          </a:p>
          <a:p>
            <a:pPr>
              <a:defRPr sz="1050">
                <a:solidFill>
                  <a:srgbClr val="94A3B8"/>
                </a:solidFill>
              </a:defRPr>
            </a:pPr>
            <a:r>
              <a:t>Entity masking</a:t>
            </a:r>
            <a:br/>
            <a:r>
              <a:t>TF-IDF (1,2) N-Grams</a:t>
            </a:r>
            <a:br/>
            <a:r>
              <a:t>13 Heuristic Rules</a:t>
            </a:r>
          </a:p>
        </p:txBody>
      </p:sp>
      <p:sp>
        <p:nvSpPr>
          <p:cNvPr id="12" name="TextBox 11"/>
          <p:cNvSpPr txBox="1"/>
          <p:nvPr/>
        </p:nvSpPr>
        <p:spPr>
          <a:xfrm>
            <a:off x="7040880" y="3291840"/>
            <a:ext cx="274320" cy="548640"/>
          </a:xfrm>
          <a:prstGeom prst="rect">
            <a:avLst/>
          </a:prstGeom>
          <a:noFill/>
        </p:spPr>
        <p:txBody>
          <a:bodyPr wrap="none">
            <a:spAutoFit/>
          </a:bodyPr>
          <a:lstStyle/>
          <a:p>
            <a:pPr>
              <a:defRPr sz="1600">
                <a:solidFill>
                  <a:srgbClr val="06B6D4"/>
                </a:solidFill>
              </a:defRPr>
            </a:pPr>
            <a:r>
              <a:t>➔</a:t>
            </a:r>
          </a:p>
        </p:txBody>
      </p:sp>
      <p:sp>
        <p:nvSpPr>
          <p:cNvPr id="13" name="Rounded Rectangle 12"/>
          <p:cNvSpPr/>
          <p:nvPr/>
        </p:nvSpPr>
        <p:spPr>
          <a:xfrm>
            <a:off x="7315199" y="2011680"/>
            <a:ext cx="1920240" cy="3291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59" y="2194560"/>
            <a:ext cx="1645920" cy="2926080"/>
          </a:xfrm>
          <a:prstGeom prst="rect">
            <a:avLst/>
          </a:prstGeom>
          <a:noFill/>
        </p:spPr>
        <p:txBody>
          <a:bodyPr wrap="square">
            <a:spAutoFit/>
          </a:bodyPr>
          <a:lstStyle/>
          <a:p>
            <a:pPr>
              <a:spcAft>
                <a:spcPts val="1200"/>
              </a:spcAft>
              <a:defRPr sz="1200" b="1">
                <a:solidFill>
                  <a:srgbClr val="10B981"/>
                </a:solidFill>
              </a:defRPr>
            </a:pPr>
            <a:r>
              <a:t>4. AI INFERENCE</a:t>
            </a:r>
          </a:p>
          <a:p>
            <a:pPr>
              <a:defRPr sz="1050">
                <a:solidFill>
                  <a:srgbClr val="94A3B8"/>
                </a:solidFill>
              </a:defRPr>
            </a:pPr>
            <a:r>
              <a:t>Sparse Matrix Union</a:t>
            </a:r>
            <a:br/>
            <a:r>
              <a:t>GradientBoosting /</a:t>
            </a:r>
            <a:br/>
            <a:r>
              <a:t>XGBoost Trees</a:t>
            </a:r>
          </a:p>
        </p:txBody>
      </p:sp>
      <p:sp>
        <p:nvSpPr>
          <p:cNvPr id="15" name="TextBox 14"/>
          <p:cNvSpPr txBox="1"/>
          <p:nvPr/>
        </p:nvSpPr>
        <p:spPr>
          <a:xfrm>
            <a:off x="9235439" y="3291840"/>
            <a:ext cx="274320" cy="548640"/>
          </a:xfrm>
          <a:prstGeom prst="rect">
            <a:avLst/>
          </a:prstGeom>
          <a:noFill/>
        </p:spPr>
        <p:txBody>
          <a:bodyPr wrap="none">
            <a:spAutoFit/>
          </a:bodyPr>
          <a:lstStyle/>
          <a:p>
            <a:pPr>
              <a:defRPr sz="1600">
                <a:solidFill>
                  <a:srgbClr val="06B6D4"/>
                </a:solidFill>
              </a:defRPr>
            </a:pPr>
            <a:r>
              <a:t>➔</a:t>
            </a:r>
          </a:p>
        </p:txBody>
      </p:sp>
      <p:sp>
        <p:nvSpPr>
          <p:cNvPr id="16" name="Rounded Rectangle 15"/>
          <p:cNvSpPr/>
          <p:nvPr/>
        </p:nvSpPr>
        <p:spPr>
          <a:xfrm>
            <a:off x="9509760" y="2011680"/>
            <a:ext cx="1920240" cy="329184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20" y="2194560"/>
            <a:ext cx="1645920" cy="2926080"/>
          </a:xfrm>
          <a:prstGeom prst="rect">
            <a:avLst/>
          </a:prstGeom>
          <a:noFill/>
        </p:spPr>
        <p:txBody>
          <a:bodyPr wrap="square">
            <a:spAutoFit/>
          </a:bodyPr>
          <a:lstStyle/>
          <a:p>
            <a:pPr>
              <a:spcAft>
                <a:spcPts val="1200"/>
              </a:spcAft>
              <a:defRPr sz="1200" b="1">
                <a:solidFill>
                  <a:srgbClr val="F59E0B"/>
                </a:solidFill>
              </a:defRPr>
            </a:pPr>
            <a:r>
              <a:t>5. REPORT</a:t>
            </a:r>
          </a:p>
          <a:p>
            <a:pPr>
              <a:defRPr sz="1050">
                <a:solidFill>
                  <a:srgbClr val="94A3B8"/>
                </a:solidFill>
              </a:defRPr>
            </a:pPr>
            <a:r>
              <a:t>Hybrid Confidence %</a:t>
            </a:r>
            <a:br/>
            <a:r>
              <a:t>Risk Level Badge</a:t>
            </a:r>
            <a:br/>
            <a:r>
              <a:t>Evidence Cards</a:t>
            </a:r>
          </a:p>
        </p:txBody>
      </p:sp>
      <p:sp>
        <p:nvSpPr>
          <p:cNvPr id="18" name="Rounded Rectangle 17"/>
          <p:cNvSpPr/>
          <p:nvPr/>
        </p:nvSpPr>
        <p:spPr>
          <a:xfrm>
            <a:off x="731520" y="5577840"/>
            <a:ext cx="10728655" cy="640080"/>
          </a:xfrm>
          <a:prstGeom prst="roundRect">
            <a:avLst/>
          </a:prstGeom>
          <a:solidFill>
            <a:srgbClr val="131B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69280"/>
            <a:ext cx="10332720" cy="457200"/>
          </a:xfrm>
          <a:prstGeom prst="rect">
            <a:avLst/>
          </a:prstGeom>
          <a:noFill/>
        </p:spPr>
        <p:txBody>
          <a:bodyPr wrap="none">
            <a:spAutoFit/>
          </a:bodyPr>
          <a:lstStyle/>
          <a:p>
            <a:pPr>
              <a:defRPr sz="1100" b="1">
                <a:solidFill>
                  <a:srgbClr val="F8FAFC"/>
                </a:solidFill>
              </a:defRPr>
            </a:pPr>
            <a:r>
              <a:t>Key Innovation: Parallel feature extraction ensures the verdict is verified by deterministic rules AND learned probability.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05 / INPUT PROCESSING</a:t>
            </a:r>
          </a:p>
          <a:p>
            <a:pPr>
              <a:spcAft>
                <a:spcPts val="200"/>
              </a:spcAft>
              <a:defRPr sz="2200" b="1">
                <a:solidFill>
                  <a:srgbClr val="F8FAFC"/>
                </a:solidFill>
                <a:latin typeface="Arial"/>
              </a:defRPr>
            </a:pPr>
            <a:r>
              <a:t>Multimodal Ingestion &amp; Intelligent OCR Fallback</a:t>
            </a:r>
          </a:p>
          <a:p>
            <a:pPr>
              <a:defRPr sz="1200">
                <a:solidFill>
                  <a:srgbClr val="94A3B8"/>
                </a:solidFill>
                <a:latin typeface="Arial"/>
              </a:defRPr>
            </a:pPr>
            <a:r>
              <a:t>Robust handling of both selectable PDFs and scanned/rasterized image flyers.</a:t>
            </a:r>
          </a:p>
        </p:txBody>
      </p:sp>
      <p:sp>
        <p:nvSpPr>
          <p:cNvPr id="4" name="Rounded Rectangle 3"/>
          <p:cNvSpPr/>
          <p:nvPr/>
        </p:nvSpPr>
        <p:spPr>
          <a:xfrm>
            <a:off x="731520" y="1645920"/>
            <a:ext cx="52120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663440" cy="4114800"/>
          </a:xfrm>
          <a:prstGeom prst="rect">
            <a:avLst/>
          </a:prstGeom>
          <a:noFill/>
        </p:spPr>
        <p:txBody>
          <a:bodyPr wrap="square">
            <a:spAutoFit/>
          </a:bodyPr>
          <a:lstStyle/>
          <a:p>
            <a:pPr>
              <a:spcAft>
                <a:spcPts val="800"/>
              </a:spcAft>
              <a:defRPr sz="1300" b="1">
                <a:solidFill>
                  <a:srgbClr val="06B6D4"/>
                </a:solidFill>
              </a:defRPr>
            </a:pPr>
            <a:r>
              <a:t>IMAGE FLYERS (PNG / JPG / JPEG)</a:t>
            </a:r>
          </a:p>
          <a:p>
            <a:pPr>
              <a:defRPr sz="1050">
                <a:solidFill>
                  <a:srgbClr val="94A3B8"/>
                </a:solidFill>
              </a:defRPr>
            </a:pPr>
            <a:r>
              <a:t>• Optical Character Recognition via Google Tesseract v5.5.3.</a:t>
            </a:r>
            <a:br/>
            <a:r>
              <a:t>• PIL (Pillow) sanitization: converts input streams to standard 24-bit 3-channel RGB, stripping problematic alpha channels.</a:t>
            </a:r>
            <a:br/>
            <a:r>
              <a:t>• Automated Windows Binary Discovery: Automatically locates 'C:\Program Files\Tesseract-OCR\tesseract.exe' if missing from PATH.</a:t>
            </a:r>
            <a:br/>
            <a:r>
              <a:t>• High resilience against varied background flyer colors and fonts.</a:t>
            </a:r>
          </a:p>
        </p:txBody>
      </p:sp>
      <p:sp>
        <p:nvSpPr>
          <p:cNvPr id="6" name="Rounded Rectangle 5"/>
          <p:cNvSpPr/>
          <p:nvPr/>
        </p:nvSpPr>
        <p:spPr>
          <a:xfrm>
            <a:off x="6217920" y="1645920"/>
            <a:ext cx="52120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28800"/>
            <a:ext cx="4663440" cy="4114800"/>
          </a:xfrm>
          <a:prstGeom prst="rect">
            <a:avLst/>
          </a:prstGeom>
          <a:noFill/>
        </p:spPr>
        <p:txBody>
          <a:bodyPr wrap="square">
            <a:spAutoFit/>
          </a:bodyPr>
          <a:lstStyle/>
          <a:p>
            <a:pPr>
              <a:spcAft>
                <a:spcPts val="800"/>
              </a:spcAft>
              <a:defRPr sz="1300" b="1">
                <a:solidFill>
                  <a:srgbClr val="6366F1"/>
                </a:solidFill>
              </a:defRPr>
            </a:pPr>
            <a:r>
              <a:t>TWO-STAGE PDF FALLBACK (ocr_utils.py)</a:t>
            </a:r>
          </a:p>
          <a:p>
            <a:pPr>
              <a:defRPr sz="1050">
                <a:solidFill>
                  <a:srgbClr val="94A3B8"/>
                </a:solidFill>
              </a:defRPr>
            </a:pPr>
            <a:r>
              <a:t>STAGE 1: Direct Vector Extraction (pdfplumber)</a:t>
            </a:r>
            <a:br/>
            <a:r>
              <a:t>Reads embedded font layers rapidly without OCR overhead.</a:t>
            </a:r>
            <a:br/>
            <a:br/>
            <a:r>
              <a:t>STAGE 2: Intelligent OCR Fallback Trigger</a:t>
            </a:r>
            <a:br/>
            <a:r>
              <a:t>If extracted length &lt; 30 characters (scanned document):</a:t>
            </a:r>
            <a:br/>
            <a:r>
              <a:t>  1. Rasterizes PDF pages into 200 DPI images via pdf2image.</a:t>
            </a:r>
            <a:br/>
            <a:r>
              <a:t>  2. Executes Tesseract OCR across each page image.</a:t>
            </a:r>
            <a:br/>
            <a:r>
              <a:t>  3. Concatenates recovered text back into the NLP stream.</a:t>
            </a:r>
            <a:br/>
            <a:r>
              <a:t>Result: 100% extraction success across both vector &amp; scanned PDFs.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06 / DOMAIN-SPECIFIC AI</a:t>
            </a:r>
          </a:p>
          <a:p>
            <a:pPr>
              <a:spcAft>
                <a:spcPts val="200"/>
              </a:spcAft>
              <a:defRPr sz="2200" b="1">
                <a:solidFill>
                  <a:srgbClr val="F8FAFC"/>
                </a:solidFill>
                <a:latin typeface="Arial"/>
              </a:defRPr>
            </a:pPr>
            <a:r>
              <a:t>The 13 Heuristic Fraud Indicators (`fraud_features.py`)</a:t>
            </a:r>
          </a:p>
          <a:p>
            <a:pPr>
              <a:defRPr sz="1200">
                <a:solidFill>
                  <a:srgbClr val="94A3B8"/>
                </a:solidFill>
                <a:latin typeface="Arial"/>
              </a:defRPr>
            </a:pPr>
            <a:r>
              <a:t>Engineered threat rules capturing structural deception patterns in job advertisements.</a:t>
            </a:r>
          </a:p>
        </p:txBody>
      </p:sp>
      <p:graphicFrame>
        <p:nvGraphicFramePr>
          <p:cNvPr id="4" name="Table 3"/>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286000"/>
                <a:gridCol w="4114800"/>
                <a:gridCol w="2468880"/>
                <a:gridCol w="1828800"/>
              </a:tblGrid>
              <a:tr h="571500">
                <a:tc>
                  <a:txBody>
                    <a:bodyPr/>
                    <a:lstStyle/>
                    <a:p>
                      <a:pPr>
                        <a:defRPr b="1" sz="1000">
                          <a:solidFill>
                            <a:srgbClr val="06B6D4"/>
                          </a:solidFill>
                        </a:defRPr>
                      </a:pPr>
                      <a:r>
                        <a:t>INDICATOR</a:t>
                      </a:r>
                    </a:p>
                  </a:txBody>
                  <a:tcPr>
                    <a:solidFill>
                      <a:srgbClr val="1E293B"/>
                    </a:solidFill>
                  </a:tcPr>
                </a:tc>
                <a:tc>
                  <a:txBody>
                    <a:bodyPr/>
                    <a:lstStyle/>
                    <a:p>
                      <a:pPr>
                        <a:defRPr b="1" sz="1000">
                          <a:solidFill>
                            <a:srgbClr val="06B6D4"/>
                          </a:solidFill>
                        </a:defRPr>
                      </a:pPr>
                      <a:r>
                        <a:t>TARGET FRAUD MECHANIC</a:t>
                      </a:r>
                    </a:p>
                  </a:txBody>
                  <a:tcPr>
                    <a:solidFill>
                      <a:srgbClr val="1E293B"/>
                    </a:solidFill>
                  </a:tcPr>
                </a:tc>
                <a:tc>
                  <a:txBody>
                    <a:bodyPr/>
                    <a:lstStyle/>
                    <a:p>
                      <a:pPr>
                        <a:defRPr b="1" sz="1000">
                          <a:solidFill>
                            <a:srgbClr val="06B6D4"/>
                          </a:solidFill>
                        </a:defRPr>
                      </a:pPr>
                      <a:r>
                        <a:t>KEY PATTERNS / REGEX</a:t>
                      </a:r>
                    </a:p>
                  </a:txBody>
                  <a:tcPr>
                    <a:solidFill>
                      <a:srgbClr val="1E293B"/>
                    </a:solidFill>
                  </a:tcPr>
                </a:tc>
                <a:tc>
                  <a:txBody>
                    <a:bodyPr/>
                    <a:lstStyle/>
                    <a:p>
                      <a:pPr>
                        <a:defRPr b="1" sz="1000">
                          <a:solidFill>
                            <a:srgbClr val="06B6D4"/>
                          </a:solidFill>
                        </a:defRPr>
                      </a:pPr>
                      <a:r>
                        <a:t>SEVERITY WEIGHT</a:t>
                      </a:r>
                    </a:p>
                  </a:txBody>
                  <a:tcPr>
                    <a:solidFill>
                      <a:srgbClr val="1E293B"/>
                    </a:solidFill>
                  </a:tcPr>
                </a:tc>
              </a:tr>
              <a:tr h="571500">
                <a:tc>
                  <a:txBody>
                    <a:bodyPr/>
                    <a:lstStyle/>
                    <a:p>
                      <a:pPr>
                        <a:defRPr sz="950">
                          <a:solidFill>
                            <a:srgbClr val="F8FAFC"/>
                          </a:solidFill>
                        </a:defRPr>
                      </a:pPr>
                      <a:r>
                        <a:t>Payment Request</a:t>
                      </a:r>
                    </a:p>
                  </a:txBody>
                  <a:tcPr>
                    <a:solidFill>
                      <a:srgbClr val="131B2A"/>
                    </a:solidFill>
                  </a:tcPr>
                </a:tc>
                <a:tc>
                  <a:txBody>
                    <a:bodyPr/>
                    <a:lstStyle/>
                    <a:p>
                      <a:pPr>
                        <a:defRPr sz="950">
                          <a:solidFill>
                            <a:srgbClr val="94A3B8"/>
                          </a:solidFill>
                        </a:defRPr>
                      </a:pPr>
                      <a:r>
                        <a:t>Demanding upfront money before hiring</a:t>
                      </a:r>
                    </a:p>
                  </a:txBody>
                  <a:tcPr>
                    <a:solidFill>
                      <a:srgbClr val="131B2A"/>
                    </a:solidFill>
                  </a:tcPr>
                </a:tc>
                <a:tc>
                  <a:txBody>
                    <a:bodyPr/>
                    <a:lstStyle/>
                    <a:p>
                      <a:pPr>
                        <a:defRPr sz="950">
                          <a:solidFill>
                            <a:srgbClr val="94A3B8"/>
                          </a:solidFill>
                        </a:defRPr>
                      </a:pPr>
                      <a:r>
                        <a:t>registration fee, deposit, training kit, crypto</a:t>
                      </a:r>
                    </a:p>
                  </a:txBody>
                  <a:tcPr>
                    <a:solidFill>
                      <a:srgbClr val="131B2A"/>
                    </a:solidFill>
                  </a:tcPr>
                </a:tc>
                <a:tc>
                  <a:txBody>
                    <a:bodyPr/>
                    <a:lstStyle/>
                    <a:p>
                      <a:pPr>
                        <a:defRPr sz="950" b="1">
                          <a:solidFill>
                            <a:srgbClr val="F43F5E"/>
                          </a:solidFill>
                        </a:defRPr>
                      </a:pPr>
                      <a:r>
                        <a:t>CRITICAL (+35)</a:t>
                      </a:r>
                    </a:p>
                  </a:txBody>
                  <a:tcPr>
                    <a:solidFill>
                      <a:srgbClr val="131B2A"/>
                    </a:solidFill>
                  </a:tcPr>
                </a:tc>
              </a:tr>
              <a:tr h="571500">
                <a:tc>
                  <a:txBody>
                    <a:bodyPr/>
                    <a:lstStyle/>
                    <a:p>
                      <a:pPr>
                        <a:defRPr sz="950">
                          <a:solidFill>
                            <a:srgbClr val="F8FAFC"/>
                          </a:solidFill>
                        </a:defRPr>
                      </a:pPr>
                      <a:r>
                        <a:t>Sensitive Info</a:t>
                      </a:r>
                    </a:p>
                  </a:txBody>
                  <a:tcPr>
                    <a:solidFill>
                      <a:srgbClr val="131B2A"/>
                    </a:solidFill>
                  </a:tcPr>
                </a:tc>
                <a:tc>
                  <a:txBody>
                    <a:bodyPr/>
                    <a:lstStyle/>
                    <a:p>
                      <a:pPr>
                        <a:defRPr sz="950">
                          <a:solidFill>
                            <a:srgbClr val="94A3B8"/>
                          </a:solidFill>
                        </a:defRPr>
                      </a:pPr>
                      <a:r>
                        <a:t>Premature harvesting of personal identity</a:t>
                      </a:r>
                    </a:p>
                  </a:txBody>
                  <a:tcPr>
                    <a:solidFill>
                      <a:srgbClr val="131B2A"/>
                    </a:solidFill>
                  </a:tcPr>
                </a:tc>
                <a:tc>
                  <a:txBody>
                    <a:bodyPr/>
                    <a:lstStyle/>
                    <a:p>
                      <a:pPr>
                        <a:defRPr sz="950">
                          <a:solidFill>
                            <a:srgbClr val="94A3B8"/>
                          </a:solidFill>
                        </a:defRPr>
                      </a:pPr>
                      <a:r>
                        <a:t>bank details, passport copy, NIC, SSN, PIN</a:t>
                      </a:r>
                    </a:p>
                  </a:txBody>
                  <a:tcPr>
                    <a:solidFill>
                      <a:srgbClr val="131B2A"/>
                    </a:solidFill>
                  </a:tcPr>
                </a:tc>
                <a:tc>
                  <a:txBody>
                    <a:bodyPr/>
                    <a:lstStyle/>
                    <a:p>
                      <a:pPr>
                        <a:defRPr sz="950" b="1">
                          <a:solidFill>
                            <a:srgbClr val="F43F5E"/>
                          </a:solidFill>
                        </a:defRPr>
                      </a:pPr>
                      <a:r>
                        <a:t>CRITICAL (+30)</a:t>
                      </a:r>
                    </a:p>
                  </a:txBody>
                  <a:tcPr>
                    <a:solidFill>
                      <a:srgbClr val="131B2A"/>
                    </a:solidFill>
                  </a:tcPr>
                </a:tc>
              </a:tr>
              <a:tr h="571500">
                <a:tc>
                  <a:txBody>
                    <a:bodyPr/>
                    <a:lstStyle/>
                    <a:p>
                      <a:pPr>
                        <a:defRPr sz="950">
                          <a:solidFill>
                            <a:srgbClr val="F8FAFC"/>
                          </a:solidFill>
                        </a:defRPr>
                      </a:pPr>
                      <a:r>
                        <a:t>Free Email Domain</a:t>
                      </a:r>
                    </a:p>
                  </a:txBody>
                  <a:tcPr>
                    <a:solidFill>
                      <a:srgbClr val="131B2A"/>
                    </a:solidFill>
                  </a:tcPr>
                </a:tc>
                <a:tc>
                  <a:txBody>
                    <a:bodyPr/>
                    <a:lstStyle/>
                    <a:p>
                      <a:pPr>
                        <a:defRPr sz="950">
                          <a:solidFill>
                            <a:srgbClr val="94A3B8"/>
                          </a:solidFill>
                        </a:defRPr>
                      </a:pPr>
                      <a:r>
                        <a:t>Recruiter lacking organizational domain</a:t>
                      </a:r>
                    </a:p>
                  </a:txBody>
                  <a:tcPr>
                    <a:solidFill>
                      <a:srgbClr val="131B2A"/>
                    </a:solidFill>
                  </a:tcPr>
                </a:tc>
                <a:tc>
                  <a:txBody>
                    <a:bodyPr/>
                    <a:lstStyle/>
                    <a:p>
                      <a:pPr>
                        <a:defRPr sz="950">
                          <a:solidFill>
                            <a:srgbClr val="94A3B8"/>
                          </a:solidFill>
                        </a:defRPr>
                      </a:pPr>
                      <a:r>
                        <a:t>@gmail.com, @yahoo.com, @outlook.com</a:t>
                      </a:r>
                    </a:p>
                  </a:txBody>
                  <a:tcPr>
                    <a:solidFill>
                      <a:srgbClr val="131B2A"/>
                    </a:solidFill>
                  </a:tcPr>
                </a:tc>
                <a:tc>
                  <a:txBody>
                    <a:bodyPr/>
                    <a:lstStyle/>
                    <a:p>
                      <a:pPr>
                        <a:defRPr sz="950" b="1">
                          <a:solidFill>
                            <a:srgbClr val="06B6D4"/>
                          </a:solidFill>
                        </a:defRPr>
                      </a:pPr>
                      <a:r>
                        <a:t>MEDIUM (+15)</a:t>
                      </a:r>
                    </a:p>
                  </a:txBody>
                  <a:tcPr>
                    <a:solidFill>
                      <a:srgbClr val="131B2A"/>
                    </a:solidFill>
                  </a:tcPr>
                </a:tc>
              </a:tr>
              <a:tr h="571500">
                <a:tc>
                  <a:txBody>
                    <a:bodyPr/>
                    <a:lstStyle/>
                    <a:p>
                      <a:pPr>
                        <a:defRPr sz="950">
                          <a:solidFill>
                            <a:srgbClr val="F8FAFC"/>
                          </a:solidFill>
                        </a:defRPr>
                      </a:pPr>
                      <a:r>
                        <a:t>Off-Platform Chat</a:t>
                      </a:r>
                    </a:p>
                  </a:txBody>
                  <a:tcPr>
                    <a:solidFill>
                      <a:srgbClr val="131B2A"/>
                    </a:solidFill>
                  </a:tcPr>
                </a:tc>
                <a:tc>
                  <a:txBody>
                    <a:bodyPr/>
                    <a:lstStyle/>
                    <a:p>
                      <a:pPr>
                        <a:defRPr sz="950">
                          <a:solidFill>
                            <a:srgbClr val="94A3B8"/>
                          </a:solidFill>
                        </a:defRPr>
                      </a:pPr>
                      <a:r>
                        <a:t>Evading platform audits via chat bots</a:t>
                      </a:r>
                    </a:p>
                  </a:txBody>
                  <a:tcPr>
                    <a:solidFill>
                      <a:srgbClr val="131B2A"/>
                    </a:solidFill>
                  </a:tcPr>
                </a:tc>
                <a:tc>
                  <a:txBody>
                    <a:bodyPr/>
                    <a:lstStyle/>
                    <a:p>
                      <a:pPr>
                        <a:defRPr sz="950">
                          <a:solidFill>
                            <a:srgbClr val="94A3B8"/>
                          </a:solidFill>
                        </a:defRPr>
                      </a:pPr>
                      <a:r>
                        <a:t>Telegram @, t.me/, WhatsApp only</a:t>
                      </a:r>
                    </a:p>
                  </a:txBody>
                  <a:tcPr>
                    <a:solidFill>
                      <a:srgbClr val="131B2A"/>
                    </a:solidFill>
                  </a:tcPr>
                </a:tc>
                <a:tc>
                  <a:txBody>
                    <a:bodyPr/>
                    <a:lstStyle/>
                    <a:p>
                      <a:pPr>
                        <a:defRPr sz="950" b="1">
                          <a:solidFill>
                            <a:srgbClr val="F59E0B"/>
                          </a:solidFill>
                        </a:defRPr>
                      </a:pPr>
                      <a:r>
                        <a:t>HIGH (+25)</a:t>
                      </a:r>
                    </a:p>
                  </a:txBody>
                  <a:tcPr>
                    <a:solidFill>
                      <a:srgbClr val="131B2A"/>
                    </a:solidFill>
                  </a:tcPr>
                </a:tc>
              </a:tr>
              <a:tr h="571500">
                <a:tc>
                  <a:txBody>
                    <a:bodyPr/>
                    <a:lstStyle/>
                    <a:p>
                      <a:pPr>
                        <a:defRPr sz="950">
                          <a:solidFill>
                            <a:srgbClr val="F8FAFC"/>
                          </a:solidFill>
                        </a:defRPr>
                      </a:pPr>
                      <a:r>
                        <a:t>No Exp + High Pay</a:t>
                      </a:r>
                    </a:p>
                  </a:txBody>
                  <a:tcPr>
                    <a:solidFill>
                      <a:srgbClr val="131B2A"/>
                    </a:solidFill>
                  </a:tcPr>
                </a:tc>
                <a:tc>
                  <a:txBody>
                    <a:bodyPr/>
                    <a:lstStyle/>
                    <a:p>
                      <a:pPr>
                        <a:defRPr sz="950">
                          <a:solidFill>
                            <a:srgbClr val="94A3B8"/>
                          </a:solidFill>
                        </a:defRPr>
                      </a:pPr>
                      <a:r>
                        <a:t>Classic bait-and-switch compensation</a:t>
                      </a:r>
                    </a:p>
                  </a:txBody>
                  <a:tcPr>
                    <a:solidFill>
                      <a:srgbClr val="131B2A"/>
                    </a:solidFill>
                  </a:tcPr>
                </a:tc>
                <a:tc>
                  <a:txBody>
                    <a:bodyPr/>
                    <a:lstStyle/>
                    <a:p>
                      <a:pPr>
                        <a:defRPr sz="950">
                          <a:solidFill>
                            <a:srgbClr val="94A3B8"/>
                          </a:solidFill>
                        </a:defRPr>
                      </a:pPr>
                      <a:r>
                        <a:t>No experience needed + $1,000/week</a:t>
                      </a:r>
                    </a:p>
                  </a:txBody>
                  <a:tcPr>
                    <a:solidFill>
                      <a:srgbClr val="131B2A"/>
                    </a:solidFill>
                  </a:tcPr>
                </a:tc>
                <a:tc>
                  <a:txBody>
                    <a:bodyPr/>
                    <a:lstStyle/>
                    <a:p>
                      <a:pPr>
                        <a:defRPr sz="950" b="1">
                          <a:solidFill>
                            <a:srgbClr val="F43F5E"/>
                          </a:solidFill>
                        </a:defRPr>
                      </a:pPr>
                      <a:r>
                        <a:t>CRITICAL (+30)</a:t>
                      </a:r>
                    </a:p>
                  </a:txBody>
                  <a:tcPr>
                    <a:solidFill>
                      <a:srgbClr val="131B2A"/>
                    </a:solidFill>
                  </a:tcPr>
                </a:tc>
              </a:tr>
              <a:tr h="571500">
                <a:tc>
                  <a:txBody>
                    <a:bodyPr/>
                    <a:lstStyle/>
                    <a:p>
                      <a:pPr>
                        <a:defRPr sz="950">
                          <a:solidFill>
                            <a:srgbClr val="F8FAFC"/>
                          </a:solidFill>
                        </a:defRPr>
                      </a:pPr>
                      <a:r>
                        <a:t>Urgency Language</a:t>
                      </a:r>
                    </a:p>
                  </a:txBody>
                  <a:tcPr>
                    <a:solidFill>
                      <a:srgbClr val="131B2A"/>
                    </a:solidFill>
                  </a:tcPr>
                </a:tc>
                <a:tc>
                  <a:txBody>
                    <a:bodyPr/>
                    <a:lstStyle/>
                    <a:p>
                      <a:pPr>
                        <a:defRPr sz="950">
                          <a:solidFill>
                            <a:srgbClr val="94A3B8"/>
                          </a:solidFill>
                        </a:defRPr>
                      </a:pPr>
                      <a:r>
                        <a:t>Psychological pressure to prevent scrutiny</a:t>
                      </a:r>
                    </a:p>
                  </a:txBody>
                  <a:tcPr>
                    <a:solidFill>
                      <a:srgbClr val="131B2A"/>
                    </a:solidFill>
                  </a:tcPr>
                </a:tc>
                <a:tc>
                  <a:txBody>
                    <a:bodyPr/>
                    <a:lstStyle/>
                    <a:p>
                      <a:pPr>
                        <a:defRPr sz="950">
                          <a:solidFill>
                            <a:srgbClr val="94A3B8"/>
                          </a:solidFill>
                        </a:defRPr>
                      </a:pPr>
                      <a:r>
                        <a:t>apply immediately, act now, limited slots</a:t>
                      </a:r>
                    </a:p>
                  </a:txBody>
                  <a:tcPr>
                    <a:solidFill>
                      <a:srgbClr val="131B2A"/>
                    </a:solidFill>
                  </a:tcPr>
                </a:tc>
                <a:tc>
                  <a:txBody>
                    <a:bodyPr/>
                    <a:lstStyle/>
                    <a:p>
                      <a:pPr>
                        <a:defRPr sz="950" b="1">
                          <a:solidFill>
                            <a:srgbClr val="06B6D4"/>
                          </a:solidFill>
                        </a:defRPr>
                      </a:pPr>
                      <a:r>
                        <a:t>MEDIUM (+10)</a:t>
                      </a:r>
                    </a:p>
                  </a:txBody>
                  <a:tcPr>
                    <a:solidFill>
                      <a:srgbClr val="131B2A"/>
                    </a:solidFill>
                  </a:tcPr>
                </a:tc>
              </a:tr>
              <a:tr h="571500">
                <a:tc>
                  <a:txBody>
                    <a:bodyPr/>
                    <a:lstStyle/>
                    <a:p>
                      <a:pPr>
                        <a:defRPr sz="950">
                          <a:solidFill>
                            <a:srgbClr val="F8FAFC"/>
                          </a:solidFill>
                        </a:defRPr>
                      </a:pPr>
                      <a:r>
                        <a:t>Missing Employer</a:t>
                      </a:r>
                    </a:p>
                  </a:txBody>
                  <a:tcPr>
                    <a:solidFill>
                      <a:srgbClr val="131B2A"/>
                    </a:solidFill>
                  </a:tcPr>
                </a:tc>
                <a:tc>
                  <a:txBody>
                    <a:bodyPr/>
                    <a:lstStyle/>
                    <a:p>
                      <a:pPr>
                        <a:defRPr sz="950">
                          <a:solidFill>
                            <a:srgbClr val="94A3B8"/>
                          </a:solidFill>
                        </a:defRPr>
                      </a:pPr>
                      <a:r>
                        <a:t>Anonymous posting with no verifiable firm</a:t>
                      </a:r>
                    </a:p>
                  </a:txBody>
                  <a:tcPr>
                    <a:solidFill>
                      <a:srgbClr val="131B2A"/>
                    </a:solidFill>
                  </a:tcPr>
                </a:tc>
                <a:tc>
                  <a:txBody>
                    <a:bodyPr/>
                    <a:lstStyle/>
                    <a:p>
                      <a:pPr>
                        <a:defRPr sz="950">
                          <a:solidFill>
                            <a:srgbClr val="94A3B8"/>
                          </a:solidFill>
                        </a:defRPr>
                      </a:pPr>
                      <a:r>
                        <a:t>Absence of Inc, Ltd, LLC, corporate name</a:t>
                      </a:r>
                    </a:p>
                  </a:txBody>
                  <a:tcPr>
                    <a:solidFill>
                      <a:srgbClr val="131B2A"/>
                    </a:solidFill>
                  </a:tcPr>
                </a:tc>
                <a:tc>
                  <a:txBody>
                    <a:bodyPr/>
                    <a:lstStyle/>
                    <a:p>
                      <a:pPr>
                        <a:defRPr sz="950" b="1">
                          <a:solidFill>
                            <a:srgbClr val="06B6D4"/>
                          </a:solidFill>
                        </a:defRPr>
                      </a:pPr>
                      <a:r>
                        <a:t>MEDIUM (+15)</a:t>
                      </a:r>
                    </a:p>
                  </a:txBody>
                  <a:tcPr>
                    <a:solidFill>
                      <a:srgbClr val="131B2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07 / SUPERVISED LEARNING</a:t>
            </a:r>
          </a:p>
          <a:p>
            <a:pPr>
              <a:spcAft>
                <a:spcPts val="200"/>
              </a:spcAft>
              <a:defRPr sz="2200" b="1">
                <a:solidFill>
                  <a:srgbClr val="F8FAFC"/>
                </a:solidFill>
                <a:latin typeface="Arial"/>
              </a:defRPr>
            </a:pPr>
            <a:r>
              <a:t>Machine Learning Core &amp; Training Pipeline</a:t>
            </a:r>
          </a:p>
          <a:p>
            <a:pPr>
              <a:defRPr sz="1200">
                <a:solidFill>
                  <a:srgbClr val="94A3B8"/>
                </a:solidFill>
                <a:latin typeface="Arial"/>
              </a:defRPr>
            </a:pPr>
            <a:r>
              <a:t>Sublinear TF-IDF representation coupled with Gradient Boosted Decision Trees.</a:t>
            </a:r>
          </a:p>
        </p:txBody>
      </p:sp>
      <p:sp>
        <p:nvSpPr>
          <p:cNvPr id="4" name="Rounded Rectangle 3"/>
          <p:cNvSpPr/>
          <p:nvPr/>
        </p:nvSpPr>
        <p:spPr>
          <a:xfrm>
            <a:off x="731520" y="1645920"/>
            <a:ext cx="52120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114800"/>
          </a:xfrm>
          <a:prstGeom prst="rect">
            <a:avLst/>
          </a:prstGeom>
          <a:noFill/>
        </p:spPr>
        <p:txBody>
          <a:bodyPr wrap="square">
            <a:spAutoFit/>
          </a:bodyPr>
          <a:lstStyle/>
          <a:p>
            <a:pPr>
              <a:spcAft>
                <a:spcPts val="800"/>
              </a:spcAft>
              <a:defRPr sz="1300" b="1">
                <a:solidFill>
                  <a:srgbClr val="06B6D4"/>
                </a:solidFill>
              </a:defRPr>
            </a:pPr>
            <a:r>
              <a:t>FEATURE UNION &amp; VECTORIZATION</a:t>
            </a:r>
          </a:p>
          <a:p>
            <a:pPr>
              <a:defRPr sz="1050">
                <a:solidFill>
                  <a:srgbClr val="94A3B8"/>
                </a:solidFill>
              </a:defRPr>
            </a:pPr>
            <a:r>
              <a:t>• TF-IDF Vectorizer with Sublinear Term Frequency:</a:t>
            </a:r>
            <a:br/>
            <a:r>
              <a:t>  TF(t,d) = 1 + log(f_t,d) for f_t,d &gt; 0</a:t>
            </a:r>
            <a:br/>
            <a:r>
              <a:t>• Unigrams and Bigrams (ngram_range=(1,2)) to preserve critical phrases like 'registration fee'.</a:t>
            </a:r>
            <a:br/>
            <a:r>
              <a:t>• Max 2,500 salient features to prevent high-dimensional noise.</a:t>
            </a:r>
            <a:br/>
            <a:r>
              <a:t>• Sparse Feature Horizontal Concatenation:</a:t>
            </a:r>
            <a:br/>
            <a:r>
              <a:t>  Combines text matrix with dense 13-rule feature matrix via scipy.sparse.hstack.</a:t>
            </a:r>
          </a:p>
        </p:txBody>
      </p:sp>
      <p:sp>
        <p:nvSpPr>
          <p:cNvPr id="6" name="Rounded Rectangle 5"/>
          <p:cNvSpPr/>
          <p:nvPr/>
        </p:nvSpPr>
        <p:spPr>
          <a:xfrm>
            <a:off x="6217920" y="1645920"/>
            <a:ext cx="52120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114800"/>
          </a:xfrm>
          <a:prstGeom prst="rect">
            <a:avLst/>
          </a:prstGeom>
          <a:noFill/>
        </p:spPr>
        <p:txBody>
          <a:bodyPr wrap="square">
            <a:spAutoFit/>
          </a:bodyPr>
          <a:lstStyle/>
          <a:p>
            <a:pPr>
              <a:spcAft>
                <a:spcPts val="800"/>
              </a:spcAft>
              <a:defRPr sz="1300" b="1">
                <a:solidFill>
                  <a:srgbClr val="10B981"/>
                </a:solidFill>
              </a:defRPr>
            </a:pPr>
            <a:r>
              <a:t>ALGORITHM: GRADIENT BOOSTED TREES</a:t>
            </a:r>
          </a:p>
          <a:p>
            <a:pPr>
              <a:defRPr sz="1050">
                <a:solidFill>
                  <a:srgbClr val="94A3B8"/>
                </a:solidFill>
              </a:defRPr>
            </a:pPr>
            <a:r>
              <a:t>• Model: GradientBoostingClassifier (150 estimators, lr=0.1, max_depth=4) with drop-in XGBoost compatibility.</a:t>
            </a:r>
            <a:br/>
            <a:r>
              <a:t>• Loss Function: Binary Cross-Entropy Deviance:</a:t>
            </a:r>
            <a:br/>
            <a:r>
              <a:t>  L(y, p) = - [ y log(p) + (1 - y) log(1 - p) ]</a:t>
            </a:r>
            <a:br/>
            <a:br/>
            <a:r>
              <a:t>DATASET STRATEGY:</a:t>
            </a:r>
            <a:br/>
            <a:r>
              <a:t>• Balanced Synthetic Generator: Balances job titles equally across Genuine and Fake sets to prevent title bias.</a:t>
            </a:r>
            <a:br/>
            <a:r>
              <a:t>• Kaggle EMSCAD Integration: CLI flag (--real) enables one-command training on 17,880 real-world postings.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08 / TRANSPARENT DECISION-MAKING</a:t>
            </a:r>
          </a:p>
          <a:p>
            <a:pPr>
              <a:spcAft>
                <a:spcPts val="200"/>
              </a:spcAft>
              <a:defRPr sz="2200" b="1">
                <a:solidFill>
                  <a:srgbClr val="F8FAFC"/>
                </a:solidFill>
                <a:latin typeface="Arial"/>
              </a:defRPr>
            </a:pPr>
            <a:r>
              <a:t>Hybrid Scoring &amp; Explainable AI (XAI) Synthesis</a:t>
            </a:r>
          </a:p>
          <a:p>
            <a:pPr>
              <a:defRPr sz="1200">
                <a:solidFill>
                  <a:srgbClr val="94A3B8"/>
                </a:solidFill>
                <a:latin typeface="Arial"/>
              </a:defRPr>
            </a:pPr>
            <a:r>
              <a:t>Blending statistical probability with deterministic safety overrides.</a:t>
            </a:r>
          </a:p>
        </p:txBody>
      </p:sp>
      <p:sp>
        <p:nvSpPr>
          <p:cNvPr id="4" name="Rounded Rectangle 3"/>
          <p:cNvSpPr/>
          <p:nvPr/>
        </p:nvSpPr>
        <p:spPr>
          <a:xfrm>
            <a:off x="731520" y="1645920"/>
            <a:ext cx="329184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26080" cy="4114800"/>
          </a:xfrm>
          <a:prstGeom prst="rect">
            <a:avLst/>
          </a:prstGeom>
          <a:noFill/>
        </p:spPr>
        <p:txBody>
          <a:bodyPr wrap="square">
            <a:spAutoFit/>
          </a:bodyPr>
          <a:lstStyle/>
          <a:p>
            <a:pPr>
              <a:spcAft>
                <a:spcPts val="800"/>
              </a:spcAft>
              <a:defRPr sz="1200" b="1">
                <a:solidFill>
                  <a:srgbClr val="06B6D4"/>
                </a:solidFill>
              </a:defRPr>
            </a:pPr>
            <a:r>
              <a:t>HYBRID FORMULA</a:t>
            </a:r>
          </a:p>
          <a:p>
            <a:pPr>
              <a:defRPr sz="1050">
                <a:solidFill>
                  <a:srgbClr val="94A3B8"/>
                </a:solidFill>
              </a:defRPr>
            </a:pPr>
            <a:r>
              <a:t>Score = β · P_ML(Fake) + (1 - β) · Score_Rule</a:t>
            </a:r>
            <a:br/>
            <a:br/>
            <a:r>
              <a:t>• β = 0.65 balances statistical probability with deterministic rule evidence.</a:t>
            </a:r>
            <a:br/>
            <a:r>
              <a:t>• Never relies purely on a single black-box signal.</a:t>
            </a:r>
            <a:br/>
            <a:r>
              <a:t>• Blends machine learning pattern recognition with concrete threat indicators.</a:t>
            </a:r>
          </a:p>
        </p:txBody>
      </p:sp>
      <p:sp>
        <p:nvSpPr>
          <p:cNvPr id="6" name="Rounded Rectangle 5"/>
          <p:cNvSpPr/>
          <p:nvPr/>
        </p:nvSpPr>
        <p:spPr>
          <a:xfrm>
            <a:off x="4389120" y="1645920"/>
            <a:ext cx="329184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2926080" cy="4114800"/>
          </a:xfrm>
          <a:prstGeom prst="rect">
            <a:avLst/>
          </a:prstGeom>
          <a:noFill/>
        </p:spPr>
        <p:txBody>
          <a:bodyPr wrap="square">
            <a:spAutoFit/>
          </a:bodyPr>
          <a:lstStyle/>
          <a:p>
            <a:pPr>
              <a:spcAft>
                <a:spcPts val="800"/>
              </a:spcAft>
              <a:defRPr sz="1200" b="1">
                <a:solidFill>
                  <a:srgbClr val="F43F5E"/>
                </a:solidFill>
              </a:defRPr>
            </a:pPr>
            <a:r>
              <a:t>SAFETY OVERRIDE</a:t>
            </a:r>
          </a:p>
          <a:p>
            <a:pPr>
              <a:defRPr sz="1050">
                <a:solidFill>
                  <a:srgbClr val="94A3B8"/>
                </a:solidFill>
              </a:defRPr>
            </a:pPr>
            <a:r>
              <a:t>Deterministic Guardrail:</a:t>
            </a:r>
            <a:br/>
            <a:br/>
            <a:r>
              <a:t>• If an explicit Upfront Fee or Banking Credential request is detected with 100% confidence:</a:t>
            </a:r>
            <a:br/>
            <a:r>
              <a:t>• Risk Level is FORCED to HIGH.</a:t>
            </a:r>
            <a:br/>
            <a:r>
              <a:t>• Prevents sophisticated phishing attacks from 'tricking' the machine learning classifier with polished prose.</a:t>
            </a:r>
          </a:p>
        </p:txBody>
      </p:sp>
      <p:sp>
        <p:nvSpPr>
          <p:cNvPr id="8" name="Rounded Rectangle 7"/>
          <p:cNvSpPr/>
          <p:nvPr/>
        </p:nvSpPr>
        <p:spPr>
          <a:xfrm>
            <a:off x="80467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114800"/>
          </a:xfrm>
          <a:prstGeom prst="rect">
            <a:avLst/>
          </a:prstGeom>
          <a:noFill/>
        </p:spPr>
        <p:txBody>
          <a:bodyPr wrap="square">
            <a:spAutoFit/>
          </a:bodyPr>
          <a:lstStyle/>
          <a:p>
            <a:pPr>
              <a:spcAft>
                <a:spcPts val="800"/>
              </a:spcAft>
              <a:defRPr sz="1200" b="1">
                <a:solidFill>
                  <a:srgbClr val="10B981"/>
                </a:solidFill>
              </a:defRPr>
            </a:pPr>
            <a:r>
              <a:t>ACTIONABLE XAI</a:t>
            </a:r>
          </a:p>
          <a:p>
            <a:pPr>
              <a:defRPr sz="1050">
                <a:solidFill>
                  <a:srgbClr val="94A3B8"/>
                </a:solidFill>
              </a:defRPr>
            </a:pPr>
            <a:r>
              <a:t>Human-Centered Transparency:</a:t>
            </a:r>
            <a:br/>
            <a:br/>
            <a:r>
              <a:t>• Replaces confusing SHAP raw word weights with plain-English Evidence Badges.</a:t>
            </a:r>
            <a:br/>
            <a:r>
              <a:t>• Each detected indicator shows:</a:t>
            </a:r>
            <a:br/>
            <a:r>
              <a:t>  - Indicator Label (e.g., Payment Request)</a:t>
            </a:r>
            <a:br/>
            <a:r>
              <a:t>  - Severity Badge (HIGH/MEDIUM)</a:t>
            </a:r>
            <a:br/>
            <a:r>
              <a:t>  - Actionable Explanation telling user why it is dangerous.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09 / SYSTEM DEMONSTRATION</a:t>
            </a:r>
          </a:p>
          <a:p>
            <a:pPr>
              <a:spcAft>
                <a:spcPts val="200"/>
              </a:spcAft>
              <a:defRPr sz="2200" b="1">
                <a:solidFill>
                  <a:srgbClr val="F8FAFC"/>
                </a:solidFill>
                <a:latin typeface="Arial"/>
              </a:defRPr>
            </a:pPr>
            <a:r>
              <a:t>Live Software Demonstration Walkthrough</a:t>
            </a:r>
          </a:p>
          <a:p>
            <a:pPr>
              <a:defRPr sz="1200">
                <a:solidFill>
                  <a:srgbClr val="94A3B8"/>
                </a:solidFill>
                <a:latin typeface="Arial"/>
              </a:defRPr>
            </a:pPr>
            <a:r>
              <a:t>Showcasing the running web application, test presets, and responsive cyber dashboard.</a:t>
            </a:r>
          </a:p>
        </p:txBody>
      </p:sp>
      <p:sp>
        <p:nvSpPr>
          <p:cNvPr id="4" name="Rounded Rectangle 3"/>
          <p:cNvSpPr/>
          <p:nvPr/>
        </p:nvSpPr>
        <p:spPr>
          <a:xfrm>
            <a:off x="7315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114800"/>
          </a:xfrm>
          <a:prstGeom prst="rect">
            <a:avLst/>
          </a:prstGeom>
          <a:noFill/>
        </p:spPr>
        <p:txBody>
          <a:bodyPr wrap="square">
            <a:spAutoFit/>
          </a:bodyPr>
          <a:lstStyle/>
          <a:p>
            <a:pPr>
              <a:spcAft>
                <a:spcPts val="400"/>
              </a:spcAft>
              <a:defRPr sz="1100" b="1">
                <a:solidFill>
                  <a:srgbClr val="10B981"/>
                </a:solidFill>
              </a:defRPr>
            </a:pPr>
            <a:r>
              <a:t>SCENARIO A: GENUINE TECH JOB</a:t>
            </a:r>
          </a:p>
          <a:p>
            <a:pPr>
              <a:spcAft>
                <a:spcPts val="1200"/>
              </a:spcAft>
              <a:defRPr sz="1300" b="1">
                <a:solidFill>
                  <a:srgbClr val="F8FAFC"/>
                </a:solidFill>
              </a:defRPr>
            </a:pPr>
            <a:r>
              <a:t>Virtusa Sr. Software Engineer</a:t>
            </a:r>
          </a:p>
          <a:p>
            <a:pPr>
              <a:defRPr sz="1050">
                <a:solidFill>
                  <a:srgbClr val="94A3B8"/>
                </a:solidFill>
              </a:defRPr>
            </a:pPr>
            <a:r>
              <a:t>Result: GENUINE (LOW RISK)</a:t>
            </a:r>
            <a:br/>
            <a:r>
              <a:t>Confidence: 98.33%</a:t>
            </a:r>
            <a:br/>
            <a:r>
              <a:t>Indicators: 0 Fraud Signals Detected</a:t>
            </a:r>
            <a:br/>
            <a:r>
              <a:t>Detected Company: Virtusa Technologies</a:t>
            </a:r>
            <a:br/>
            <a:r>
              <a:t>Verified official careers domain.</a:t>
            </a:r>
          </a:p>
        </p:txBody>
      </p:sp>
      <p:sp>
        <p:nvSpPr>
          <p:cNvPr id="6" name="Rounded Rectangle 5"/>
          <p:cNvSpPr/>
          <p:nvPr/>
        </p:nvSpPr>
        <p:spPr>
          <a:xfrm>
            <a:off x="43891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114800"/>
          </a:xfrm>
          <a:prstGeom prst="rect">
            <a:avLst/>
          </a:prstGeom>
          <a:noFill/>
        </p:spPr>
        <p:txBody>
          <a:bodyPr wrap="square">
            <a:spAutoFit/>
          </a:bodyPr>
          <a:lstStyle/>
          <a:p>
            <a:pPr>
              <a:spcAft>
                <a:spcPts val="400"/>
              </a:spcAft>
              <a:defRPr sz="1100" b="1">
                <a:solidFill>
                  <a:srgbClr val="F43F5E"/>
                </a:solidFill>
              </a:defRPr>
            </a:pPr>
            <a:r>
              <a:t>SCENARIO B: UPFRONT FEE SCAM</a:t>
            </a:r>
          </a:p>
          <a:p>
            <a:pPr>
              <a:spcAft>
                <a:spcPts val="1200"/>
              </a:spcAft>
              <a:defRPr sz="1300" b="1">
                <a:solidFill>
                  <a:srgbClr val="F8FAFC"/>
                </a:solidFill>
              </a:defRPr>
            </a:pPr>
            <a:r>
              <a:t>Data Entry Specialist ($50 Deposit)</a:t>
            </a:r>
          </a:p>
          <a:p>
            <a:pPr>
              <a:defRPr sz="1050">
                <a:solidFill>
                  <a:srgbClr val="94A3B8"/>
                </a:solidFill>
              </a:defRPr>
            </a:pPr>
            <a:r>
              <a:t>Result: SUSPICIOUS / SCAM (HIGH RISK)</a:t>
            </a:r>
            <a:br/>
            <a:r>
              <a:t>Confidence: 85.02%</a:t>
            </a:r>
            <a:br/>
            <a:r>
              <a:t>Indicators:</a:t>
            </a:r>
            <a:br/>
            <a:r>
              <a:t>• Payment Request ($50 Refundable Fee)</a:t>
            </a:r>
            <a:br/>
            <a:r>
              <a:t>• Free Email Domain (@gmail.com)</a:t>
            </a:r>
            <a:br/>
            <a:r>
              <a:t>• Telegram Recruiter (@GlobalHR_Admin)</a:t>
            </a:r>
          </a:p>
        </p:txBody>
      </p:sp>
      <p:sp>
        <p:nvSpPr>
          <p:cNvPr id="8" name="Rounded Rectangle 7"/>
          <p:cNvSpPr/>
          <p:nvPr/>
        </p:nvSpPr>
        <p:spPr>
          <a:xfrm>
            <a:off x="80467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114800"/>
          </a:xfrm>
          <a:prstGeom prst="rect">
            <a:avLst/>
          </a:prstGeom>
          <a:noFill/>
        </p:spPr>
        <p:txBody>
          <a:bodyPr wrap="square">
            <a:spAutoFit/>
          </a:bodyPr>
          <a:lstStyle/>
          <a:p>
            <a:pPr>
              <a:spcAft>
                <a:spcPts val="400"/>
              </a:spcAft>
              <a:defRPr sz="1100" b="1">
                <a:solidFill>
                  <a:srgbClr val="F59E0B"/>
                </a:solidFill>
              </a:defRPr>
            </a:pPr>
            <a:r>
              <a:t>SCENARIO C: HIGH PAY / NO EXP</a:t>
            </a:r>
          </a:p>
          <a:p>
            <a:pPr>
              <a:spcAft>
                <a:spcPts val="1200"/>
              </a:spcAft>
              <a:defRPr sz="1300" b="1">
                <a:solidFill>
                  <a:srgbClr val="F8FAFC"/>
                </a:solidFill>
              </a:defRPr>
            </a:pPr>
            <a:r>
              <a:t>Part-Time Review Assistant ($500/day)</a:t>
            </a:r>
          </a:p>
          <a:p>
            <a:pPr>
              <a:defRPr sz="1050">
                <a:solidFill>
                  <a:srgbClr val="94A3B8"/>
                </a:solidFill>
              </a:defRPr>
            </a:pPr>
            <a:r>
              <a:t>Result: SUSPICIOUS / SCAM (HIGH RISK)</a:t>
            </a:r>
            <a:br/>
            <a:r>
              <a:t>Confidence: 81.40%</a:t>
            </a:r>
            <a:br/>
            <a:r>
              <a:t>Indicators:</a:t>
            </a:r>
            <a:br/>
            <a:r>
              <a:t>• No Experience with High Salary</a:t>
            </a:r>
            <a:br/>
            <a:r>
              <a:t>• WhatsApp Recruiter Contact</a:t>
            </a:r>
            <a:br/>
            <a:r>
              <a:t>• Urgent / Exaggerated Daily Payouts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10 / USER INTERFACE ENGINEERING</a:t>
            </a:r>
          </a:p>
          <a:p>
            <a:pPr>
              <a:spcAft>
                <a:spcPts val="200"/>
              </a:spcAft>
              <a:defRPr sz="2200" b="1">
                <a:solidFill>
                  <a:srgbClr val="F8FAFC"/>
                </a:solidFill>
                <a:latin typeface="Arial"/>
              </a:defRPr>
            </a:pPr>
            <a:r>
              <a:t>Modern Cyber-Defense Frontend Architecture</a:t>
            </a:r>
          </a:p>
          <a:p>
            <a:pPr>
              <a:defRPr sz="1200">
                <a:solidFill>
                  <a:srgbClr val="94A3B8"/>
                </a:solidFill>
                <a:latin typeface="Arial"/>
              </a:defRPr>
            </a:pPr>
            <a:r>
              <a:t>An accessible, dark glassmorphic interface built with vanilla web technologies.</a:t>
            </a:r>
          </a:p>
        </p:txBody>
      </p:sp>
      <p:sp>
        <p:nvSpPr>
          <p:cNvPr id="4" name="Rounded Rectangle 3"/>
          <p:cNvSpPr/>
          <p:nvPr/>
        </p:nvSpPr>
        <p:spPr>
          <a:xfrm>
            <a:off x="731520" y="1645920"/>
            <a:ext cx="5212080" cy="21031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828800"/>
          </a:xfrm>
          <a:prstGeom prst="rect">
            <a:avLst/>
          </a:prstGeom>
          <a:noFill/>
        </p:spPr>
        <p:txBody>
          <a:bodyPr wrap="square">
            <a:spAutoFit/>
          </a:bodyPr>
          <a:lstStyle/>
          <a:p>
            <a:pPr>
              <a:spcAft>
                <a:spcPts val="600"/>
              </a:spcAft>
              <a:defRPr sz="1300" b="1">
                <a:solidFill>
                  <a:srgbClr val="06B6D4"/>
                </a:solidFill>
              </a:defRPr>
            </a:pPr>
            <a:r>
              <a:t>Dark Glassmorphism Theme</a:t>
            </a:r>
          </a:p>
          <a:p>
            <a:pPr>
              <a:defRPr sz="1050">
                <a:solidFill>
                  <a:srgbClr val="94A3B8"/>
                </a:solidFill>
              </a:defRPr>
            </a:pPr>
            <a:r>
              <a:t>Obsidian &amp; Slate palette with semi-transparent backdrop blur (`backdrop-filter: blur(20px)`), subtle neon cyan borders, and accessible typography (Outfit &amp; Plus Jakarta Sans).</a:t>
            </a:r>
          </a:p>
        </p:txBody>
      </p:sp>
      <p:sp>
        <p:nvSpPr>
          <p:cNvPr id="6" name="Rounded Rectangle 5"/>
          <p:cNvSpPr/>
          <p:nvPr/>
        </p:nvSpPr>
        <p:spPr>
          <a:xfrm>
            <a:off x="6217920" y="1645920"/>
            <a:ext cx="5212080" cy="21031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1828800"/>
          </a:xfrm>
          <a:prstGeom prst="rect">
            <a:avLst/>
          </a:prstGeom>
          <a:noFill/>
        </p:spPr>
        <p:txBody>
          <a:bodyPr wrap="square">
            <a:spAutoFit/>
          </a:bodyPr>
          <a:lstStyle/>
          <a:p>
            <a:pPr>
              <a:spcAft>
                <a:spcPts val="600"/>
              </a:spcAft>
              <a:defRPr sz="1300" b="1">
                <a:solidFill>
                  <a:srgbClr val="6366F1"/>
                </a:solidFill>
              </a:defRPr>
            </a:pPr>
            <a:r>
              <a:t>HTML5 Canvas Neural Mesh</a:t>
            </a:r>
          </a:p>
          <a:p>
            <a:pPr>
              <a:defRPr sz="1050">
                <a:solidFill>
                  <a:srgbClr val="94A3B8"/>
                </a:solidFill>
              </a:defRPr>
            </a:pPr>
            <a:r>
              <a:t>An interactive background constellation running on requestAnimationFrame. Simulates connected AI nodes that gently react and repel when cursor hovers nearby.</a:t>
            </a:r>
          </a:p>
        </p:txBody>
      </p:sp>
      <p:sp>
        <p:nvSpPr>
          <p:cNvPr id="8" name="Rounded Rectangle 7"/>
          <p:cNvSpPr/>
          <p:nvPr/>
        </p:nvSpPr>
        <p:spPr>
          <a:xfrm>
            <a:off x="731520" y="3931920"/>
            <a:ext cx="5212080" cy="21031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846320" cy="1828800"/>
          </a:xfrm>
          <a:prstGeom prst="rect">
            <a:avLst/>
          </a:prstGeom>
          <a:noFill/>
        </p:spPr>
        <p:txBody>
          <a:bodyPr wrap="square">
            <a:spAutoFit/>
          </a:bodyPr>
          <a:lstStyle/>
          <a:p>
            <a:pPr>
              <a:spcAft>
                <a:spcPts val="600"/>
              </a:spcAft>
              <a:defRPr sz="1300" b="1">
                <a:solidFill>
                  <a:srgbClr val="10B981"/>
                </a:solidFill>
              </a:defRPr>
            </a:pPr>
            <a:r>
              <a:t>Triple Laser Scan Beams</a:t>
            </a:r>
          </a:p>
          <a:p>
            <a:pPr>
              <a:defRPr sz="1050">
                <a:solidFill>
                  <a:srgbClr val="94A3B8"/>
                </a:solidFill>
              </a:defRPr>
            </a:pPr>
            <a:r>
              <a:t>Three multi-hued laser lines (Cyan, Indigo, Emerald) traveling downwards across a 10-second cadence, providing an engaging security scan aesthetic.</a:t>
            </a:r>
          </a:p>
        </p:txBody>
      </p:sp>
      <p:sp>
        <p:nvSpPr>
          <p:cNvPr id="10" name="Rounded Rectangle 9"/>
          <p:cNvSpPr/>
          <p:nvPr/>
        </p:nvSpPr>
        <p:spPr>
          <a:xfrm>
            <a:off x="6217920" y="3931920"/>
            <a:ext cx="5212080" cy="21031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846320" cy="1828800"/>
          </a:xfrm>
          <a:prstGeom prst="rect">
            <a:avLst/>
          </a:prstGeom>
          <a:noFill/>
        </p:spPr>
        <p:txBody>
          <a:bodyPr wrap="square">
            <a:spAutoFit/>
          </a:bodyPr>
          <a:lstStyle/>
          <a:p>
            <a:pPr>
              <a:spcAft>
                <a:spcPts val="600"/>
              </a:spcAft>
              <a:defRPr sz="1300" b="1">
                <a:solidFill>
                  <a:srgbClr val="F59E0B"/>
                </a:solidFill>
              </a:defRPr>
            </a:pPr>
            <a:r>
              <a:t>Animated Gauge &amp; Evidence Cards</a:t>
            </a:r>
          </a:p>
          <a:p>
            <a:pPr>
              <a:defRPr sz="1050">
                <a:solidFill>
                  <a:srgbClr val="94A3B8"/>
                </a:solidFill>
              </a:defRPr>
            </a:pPr>
            <a:r>
              <a:t>SVG circular progress dial with dynamic strokeDashoffset animation displaying real-time risk percentages alongside colored severity chips.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11 / EVALUATION &amp; TESTING</a:t>
            </a:r>
          </a:p>
          <a:p>
            <a:pPr>
              <a:spcAft>
                <a:spcPts val="200"/>
              </a:spcAft>
              <a:defRPr sz="2200" b="1">
                <a:solidFill>
                  <a:srgbClr val="F8FAFC"/>
                </a:solidFill>
                <a:latin typeface="Arial"/>
              </a:defRPr>
            </a:pPr>
            <a:r>
              <a:t>Performance Metrics &amp; Prototype Test Results</a:t>
            </a:r>
          </a:p>
          <a:p>
            <a:pPr>
              <a:defRPr sz="1200">
                <a:solidFill>
                  <a:srgbClr val="94A3B8"/>
                </a:solidFill>
                <a:latin typeface="Arial"/>
              </a:defRPr>
            </a:pPr>
            <a:r>
              <a:t>Empirical prototype verification demonstrating accurate fraud identification.</a:t>
            </a:r>
          </a:p>
        </p:txBody>
      </p:sp>
      <p:sp>
        <p:nvSpPr>
          <p:cNvPr id="4" name="Rounded Rectangle 3"/>
          <p:cNvSpPr/>
          <p:nvPr/>
        </p:nvSpPr>
        <p:spPr>
          <a:xfrm>
            <a:off x="731520" y="1645920"/>
            <a:ext cx="2468880" cy="16459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2194560" cy="1463040"/>
          </a:xfrm>
          <a:prstGeom prst="rect">
            <a:avLst/>
          </a:prstGeom>
          <a:noFill/>
        </p:spPr>
        <p:txBody>
          <a:bodyPr wrap="square">
            <a:spAutoFit/>
          </a:bodyPr>
          <a:lstStyle/>
          <a:p>
            <a:pPr>
              <a:spcAft>
                <a:spcPts val="200"/>
              </a:spcAft>
              <a:defRPr sz="2600" b="1">
                <a:solidFill>
                  <a:srgbClr val="10B981"/>
                </a:solidFill>
              </a:defRPr>
            </a:pPr>
            <a:r>
              <a:t>98.33%</a:t>
            </a:r>
          </a:p>
          <a:p>
            <a:pPr>
              <a:defRPr sz="1100" b="1">
                <a:solidFill>
                  <a:srgbClr val="F8FAFC"/>
                </a:solidFill>
              </a:defRPr>
            </a:pPr>
            <a:r>
              <a:t>Genuine Confidence</a:t>
            </a:r>
          </a:p>
          <a:p>
            <a:pPr>
              <a:defRPr sz="950">
                <a:solidFill>
                  <a:srgbClr val="94A3B8"/>
                </a:solidFill>
              </a:defRPr>
            </a:pPr>
            <a:r>
              <a:t>On verified corporate software engineering ad</a:t>
            </a:r>
          </a:p>
        </p:txBody>
      </p:sp>
      <p:sp>
        <p:nvSpPr>
          <p:cNvPr id="6" name="Rounded Rectangle 5"/>
          <p:cNvSpPr/>
          <p:nvPr/>
        </p:nvSpPr>
        <p:spPr>
          <a:xfrm>
            <a:off x="3474720" y="1645920"/>
            <a:ext cx="2468880" cy="16459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737360"/>
            <a:ext cx="2194560" cy="1463040"/>
          </a:xfrm>
          <a:prstGeom prst="rect">
            <a:avLst/>
          </a:prstGeom>
          <a:noFill/>
        </p:spPr>
        <p:txBody>
          <a:bodyPr wrap="square">
            <a:spAutoFit/>
          </a:bodyPr>
          <a:lstStyle/>
          <a:p>
            <a:pPr>
              <a:spcAft>
                <a:spcPts val="200"/>
              </a:spcAft>
              <a:defRPr sz="2600" b="1">
                <a:solidFill>
                  <a:srgbClr val="F43F5E"/>
                </a:solidFill>
              </a:defRPr>
            </a:pPr>
            <a:r>
              <a:t>85.02%</a:t>
            </a:r>
          </a:p>
          <a:p>
            <a:pPr>
              <a:defRPr sz="1100" b="1">
                <a:solidFill>
                  <a:srgbClr val="F8FAFC"/>
                </a:solidFill>
              </a:defRPr>
            </a:pPr>
            <a:r>
              <a:t>Fake Detection Score</a:t>
            </a:r>
          </a:p>
          <a:p>
            <a:pPr>
              <a:defRPr sz="950">
                <a:solidFill>
                  <a:srgbClr val="94A3B8"/>
                </a:solidFill>
              </a:defRPr>
            </a:pPr>
            <a:r>
              <a:t>On upfront registration fee Telegram scam</a:t>
            </a:r>
          </a:p>
        </p:txBody>
      </p:sp>
      <p:sp>
        <p:nvSpPr>
          <p:cNvPr id="8" name="Rounded Rectangle 7"/>
          <p:cNvSpPr/>
          <p:nvPr/>
        </p:nvSpPr>
        <p:spPr>
          <a:xfrm>
            <a:off x="6217920" y="1645920"/>
            <a:ext cx="2468880" cy="16459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737360"/>
            <a:ext cx="2194560" cy="1463040"/>
          </a:xfrm>
          <a:prstGeom prst="rect">
            <a:avLst/>
          </a:prstGeom>
          <a:noFill/>
        </p:spPr>
        <p:txBody>
          <a:bodyPr wrap="square">
            <a:spAutoFit/>
          </a:bodyPr>
          <a:lstStyle/>
          <a:p>
            <a:pPr>
              <a:spcAft>
                <a:spcPts val="200"/>
              </a:spcAft>
              <a:defRPr sz="2600" b="1">
                <a:solidFill>
                  <a:srgbClr val="06B6D4"/>
                </a:solidFill>
              </a:defRPr>
            </a:pPr>
            <a:r>
              <a:t>&lt; 120ms</a:t>
            </a:r>
          </a:p>
          <a:p>
            <a:pPr>
              <a:defRPr sz="1100" b="1">
                <a:solidFill>
                  <a:srgbClr val="F8FAFC"/>
                </a:solidFill>
              </a:defRPr>
            </a:pPr>
            <a:r>
              <a:t>Inference Latency</a:t>
            </a:r>
          </a:p>
          <a:p>
            <a:pPr>
              <a:defRPr sz="950">
                <a:solidFill>
                  <a:srgbClr val="94A3B8"/>
                </a:solidFill>
              </a:defRPr>
            </a:pPr>
            <a:r>
              <a:t>End-to-end classification of raw text input</a:t>
            </a:r>
          </a:p>
        </p:txBody>
      </p:sp>
      <p:sp>
        <p:nvSpPr>
          <p:cNvPr id="10" name="Rounded Rectangle 9"/>
          <p:cNvSpPr/>
          <p:nvPr/>
        </p:nvSpPr>
        <p:spPr>
          <a:xfrm>
            <a:off x="8961120" y="1645920"/>
            <a:ext cx="2468880" cy="16459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737360"/>
            <a:ext cx="2194560" cy="1463040"/>
          </a:xfrm>
          <a:prstGeom prst="rect">
            <a:avLst/>
          </a:prstGeom>
          <a:noFill/>
        </p:spPr>
        <p:txBody>
          <a:bodyPr wrap="square">
            <a:spAutoFit/>
          </a:bodyPr>
          <a:lstStyle/>
          <a:p>
            <a:pPr>
              <a:spcAft>
                <a:spcPts val="200"/>
              </a:spcAft>
              <a:defRPr sz="2600" b="1">
                <a:solidFill>
                  <a:srgbClr val="F59E0B"/>
                </a:solidFill>
              </a:defRPr>
            </a:pPr>
            <a:r>
              <a:t>100%</a:t>
            </a:r>
          </a:p>
          <a:p>
            <a:pPr>
              <a:defRPr sz="1100" b="1">
                <a:solidFill>
                  <a:srgbClr val="F8FAFC"/>
                </a:solidFill>
              </a:defRPr>
            </a:pPr>
            <a:r>
              <a:t>OCR Fallback Success</a:t>
            </a:r>
          </a:p>
          <a:p>
            <a:pPr>
              <a:defRPr sz="950">
                <a:solidFill>
                  <a:srgbClr val="94A3B8"/>
                </a:solidFill>
              </a:defRPr>
            </a:pPr>
            <a:r>
              <a:t>Across selectable text &amp; scanned rasterized PDFs</a:t>
            </a:r>
          </a:p>
        </p:txBody>
      </p:sp>
      <p:sp>
        <p:nvSpPr>
          <p:cNvPr id="12" name="Rounded Rectangle 11"/>
          <p:cNvSpPr/>
          <p:nvPr/>
        </p:nvSpPr>
        <p:spPr>
          <a:xfrm>
            <a:off x="731520" y="3566160"/>
            <a:ext cx="10728655" cy="256032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749039"/>
            <a:ext cx="10149840" cy="2194560"/>
          </a:xfrm>
          <a:prstGeom prst="rect">
            <a:avLst/>
          </a:prstGeom>
          <a:noFill/>
        </p:spPr>
        <p:txBody>
          <a:bodyPr wrap="square">
            <a:spAutoFit/>
          </a:bodyPr>
          <a:lstStyle/>
          <a:p>
            <a:pPr>
              <a:spcAft>
                <a:spcPts val="600"/>
              </a:spcAft>
              <a:defRPr sz="1300" b="1">
                <a:solidFill>
                  <a:srgbClr val="06B6D4"/>
                </a:solidFill>
              </a:defRPr>
            </a:pPr>
            <a:r>
              <a:t>PROTOTYPE VERIFICATION FINDINGS</a:t>
            </a:r>
          </a:p>
          <a:p>
            <a:pPr>
              <a:defRPr sz="1100">
                <a:solidFill>
                  <a:srgbClr val="94A3B8"/>
                </a:solidFill>
              </a:defRPr>
            </a:pPr>
            <a:r>
              <a:t>• High Discriminative Power: Successfully distinguishes between genuine entry-level roles and predatory advance-fee scams.</a:t>
            </a:r>
            <a:br/>
            <a:r>
              <a:t>• Elimination of False Positives: Benign keywords ('assistant', 'intern', 'flexible') no longer trigger false scam classifications.</a:t>
            </a:r>
            <a:br/>
            <a:r>
              <a:t>• Multimodal Robustness: Correctly identifies image flyers where text was previously inaccessible to web scrapers.</a:t>
            </a:r>
            <a:br/>
            <a:r>
              <a:t>• Honest Limitation Note: Current test numbers reflect balanced synthetic benchmark validation; full Kaggle EMSCAD cross-validation is scheduled for Phase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12 / ENGINEERING CHALLENGES</a:t>
            </a:r>
          </a:p>
          <a:p>
            <a:pPr>
              <a:spcAft>
                <a:spcPts val="200"/>
              </a:spcAft>
              <a:defRPr sz="2200" b="1">
                <a:solidFill>
                  <a:srgbClr val="F8FAFC"/>
                </a:solidFill>
                <a:latin typeface="Arial"/>
              </a:defRPr>
            </a:pPr>
            <a:r>
              <a:t>Technical Roadblocks Overcome &amp; Lessons Learned</a:t>
            </a:r>
          </a:p>
          <a:p>
            <a:pPr>
              <a:defRPr sz="1200">
                <a:solidFill>
                  <a:srgbClr val="94A3B8"/>
                </a:solidFill>
                <a:latin typeface="Arial"/>
              </a:defRPr>
            </a:pPr>
            <a:r>
              <a:t>Reflecting our real-world problem-solving documented in Section 12-13 of the Progress Report.</a:t>
            </a:r>
          </a:p>
        </p:txBody>
      </p:sp>
      <p:sp>
        <p:nvSpPr>
          <p:cNvPr id="4" name="Rounded Rectangle 3"/>
          <p:cNvSpPr/>
          <p:nvPr/>
        </p:nvSpPr>
        <p:spPr>
          <a:xfrm>
            <a:off x="731520" y="1645920"/>
            <a:ext cx="10728655" cy="137160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1188720"/>
          </a:xfrm>
          <a:prstGeom prst="rect">
            <a:avLst/>
          </a:prstGeom>
          <a:noFill/>
        </p:spPr>
        <p:txBody>
          <a:bodyPr wrap="square">
            <a:spAutoFit/>
          </a:bodyPr>
          <a:lstStyle/>
          <a:p>
            <a:pPr>
              <a:spcAft>
                <a:spcPts val="400"/>
              </a:spcAft>
              <a:defRPr sz="1200" b="1">
                <a:solidFill>
                  <a:srgbClr val="F59E0B"/>
                </a:solidFill>
              </a:defRPr>
            </a:pPr>
            <a:r>
              <a:t>1. PYTHON 3.13 PANDAS BUILD FAILURE</a:t>
            </a:r>
          </a:p>
          <a:p>
            <a:pPr>
              <a:defRPr sz="1000">
                <a:solidFill>
                  <a:srgbClr val="94A3B8"/>
                </a:solidFill>
              </a:defRPr>
            </a:pPr>
            <a:r>
              <a:t>Problem: pip install pandas failed due to missing pre-compiled C wheels on newly released Python 3.13.</a:t>
            </a:r>
            <a:br/>
            <a:r>
              <a:t>Solution: Upgraded package specifications to pandas &gt;= 3.0.0 with native binary compatibility.</a:t>
            </a:r>
            <a:br/>
            <a:r>
              <a:t>Lesson: Essential to lock and document compatible runtime dependencies across ML libraries.</a:t>
            </a:r>
          </a:p>
        </p:txBody>
      </p:sp>
      <p:sp>
        <p:nvSpPr>
          <p:cNvPr id="6" name="Rounded Rectangle 5"/>
          <p:cNvSpPr/>
          <p:nvPr/>
        </p:nvSpPr>
        <p:spPr>
          <a:xfrm>
            <a:off x="731520" y="3154680"/>
            <a:ext cx="10728655" cy="137160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46120"/>
            <a:ext cx="10332720" cy="1188720"/>
          </a:xfrm>
          <a:prstGeom prst="rect">
            <a:avLst/>
          </a:prstGeom>
          <a:noFill/>
        </p:spPr>
        <p:txBody>
          <a:bodyPr wrap="square">
            <a:spAutoFit/>
          </a:bodyPr>
          <a:lstStyle/>
          <a:p>
            <a:pPr>
              <a:spcAft>
                <a:spcPts val="400"/>
              </a:spcAft>
              <a:defRPr sz="1200" b="1">
                <a:solidFill>
                  <a:srgbClr val="F43F5E"/>
                </a:solidFill>
              </a:defRPr>
            </a:pPr>
            <a:r>
              <a:t>2. PICKLE DRIFT &amp; FEATURE MISMATCH</a:t>
            </a:r>
          </a:p>
          <a:p>
            <a:pPr>
              <a:defRPr sz="1000">
                <a:solidFill>
                  <a:srgbClr val="94A3B8"/>
                </a:solidFill>
              </a:defRPr>
            </a:pPr>
            <a:r>
              <a:t>Problem: Updating rule count in fraud_features.py caused shape mismatch errors with stale .pkl files.</a:t>
            </a:r>
            <a:br/>
            <a:r>
              <a:t>Solution: Developed automated model re-training pipeline that rebuilds synchronized model artifacts.</a:t>
            </a:r>
            <a:br/>
            <a:r>
              <a:t>Lesson: Machine learning models must always be tied to explicit feature version metadata.</a:t>
            </a:r>
          </a:p>
        </p:txBody>
      </p:sp>
      <p:sp>
        <p:nvSpPr>
          <p:cNvPr id="8" name="Rounded Rectangle 7"/>
          <p:cNvSpPr/>
          <p:nvPr/>
        </p:nvSpPr>
        <p:spPr>
          <a:xfrm>
            <a:off x="731520" y="4663440"/>
            <a:ext cx="10728655" cy="137160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54880"/>
            <a:ext cx="10332720" cy="1188720"/>
          </a:xfrm>
          <a:prstGeom prst="rect">
            <a:avLst/>
          </a:prstGeom>
          <a:noFill/>
        </p:spPr>
        <p:txBody>
          <a:bodyPr wrap="square">
            <a:spAutoFit/>
          </a:bodyPr>
          <a:lstStyle/>
          <a:p>
            <a:pPr>
              <a:spcAft>
                <a:spcPts val="400"/>
              </a:spcAft>
              <a:defRPr sz="1200" b="1">
                <a:solidFill>
                  <a:srgbClr val="06B6D4"/>
                </a:solidFill>
              </a:defRPr>
            </a:pPr>
            <a:r>
              <a:t>3. WINDOWS TESSERACT BINARY LOCATOR</a:t>
            </a:r>
          </a:p>
          <a:p>
            <a:pPr>
              <a:defRPr sz="1000">
                <a:solidFill>
                  <a:srgbClr val="94A3B8"/>
                </a:solidFill>
              </a:defRPr>
            </a:pPr>
            <a:r>
              <a:t>Problem: pytesseract threw TesseractNotFoundError when the C++ binary was absent from system PATH.</a:t>
            </a:r>
            <a:br/>
            <a:r>
              <a:t>Solution: Implemented auto-detection targeting 'C:\Program Files\Tesseract-OCR\tesseract.exe'.</a:t>
            </a:r>
            <a:br/>
            <a:r>
              <a:t>Lesson: Software must fail gracefully and self-configure on heterogeneous student operating systems.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13 / ETHICS &amp; RESPONSIBLE AI</a:t>
            </a:r>
          </a:p>
          <a:p>
            <a:pPr>
              <a:spcAft>
                <a:spcPts val="200"/>
              </a:spcAft>
              <a:defRPr sz="2200" b="1">
                <a:solidFill>
                  <a:srgbClr val="F8FAFC"/>
                </a:solidFill>
                <a:latin typeface="Arial"/>
              </a:defRPr>
            </a:pPr>
            <a:r>
              <a:t>Ethical, Legal &amp; Social Considerations</a:t>
            </a:r>
          </a:p>
          <a:p>
            <a:pPr>
              <a:defRPr sz="1200">
                <a:solidFill>
                  <a:srgbClr val="94A3B8"/>
                </a:solidFill>
                <a:latin typeface="Arial"/>
              </a:defRPr>
            </a:pPr>
            <a:r>
              <a:t>Addressing bias, privacy, and automated decision-making as mandated by the assignment rubric.</a:t>
            </a:r>
          </a:p>
        </p:txBody>
      </p:sp>
      <p:sp>
        <p:nvSpPr>
          <p:cNvPr id="4" name="Rounded Rectangle 3"/>
          <p:cNvSpPr/>
          <p:nvPr/>
        </p:nvSpPr>
        <p:spPr>
          <a:xfrm>
            <a:off x="7315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4114800"/>
          </a:xfrm>
          <a:prstGeom prst="rect">
            <a:avLst/>
          </a:prstGeom>
          <a:noFill/>
        </p:spPr>
        <p:txBody>
          <a:bodyPr wrap="square">
            <a:spAutoFit/>
          </a:bodyPr>
          <a:lstStyle/>
          <a:p>
            <a:pPr>
              <a:spcAft>
                <a:spcPts val="1200"/>
              </a:spcAft>
              <a:defRPr sz="1100" b="1">
                <a:solidFill>
                  <a:srgbClr val="10B981"/>
                </a:solidFill>
              </a:defRPr>
            </a:pPr>
            <a:r>
              <a:t>DATA PRIVACY &amp; ANONYMITY</a:t>
            </a:r>
          </a:p>
          <a:p>
            <a:pPr>
              <a:defRPr sz="1050">
                <a:solidFill>
                  <a:srgbClr val="94A3B8"/>
                </a:solidFill>
              </a:defRPr>
            </a:pPr>
            <a:r>
              <a:t>• Job applications often contain personal contact numbers and names.</a:t>
            </a:r>
            <a:br/>
            <a:r>
              <a:t>• All raw uploaded documents are processed in-memory (BytesIO) and never stored permanently on disk.</a:t>
            </a:r>
            <a:br/>
            <a:r>
              <a:t>• Zero retention of applicant CVs or employer contact information.</a:t>
            </a:r>
          </a:p>
        </p:txBody>
      </p:sp>
      <p:sp>
        <p:nvSpPr>
          <p:cNvPr id="6" name="Rounded Rectangle 5"/>
          <p:cNvSpPr/>
          <p:nvPr/>
        </p:nvSpPr>
        <p:spPr>
          <a:xfrm>
            <a:off x="43891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4114800"/>
          </a:xfrm>
          <a:prstGeom prst="rect">
            <a:avLst/>
          </a:prstGeom>
          <a:noFill/>
        </p:spPr>
        <p:txBody>
          <a:bodyPr wrap="square">
            <a:spAutoFit/>
          </a:bodyPr>
          <a:lstStyle/>
          <a:p>
            <a:pPr>
              <a:spcAft>
                <a:spcPts val="1200"/>
              </a:spcAft>
              <a:defRPr sz="1100" b="1">
                <a:solidFill>
                  <a:srgbClr val="06B6D4"/>
                </a:solidFill>
              </a:defRPr>
            </a:pPr>
            <a:r>
              <a:t>BIAS &amp; SHORTCUT LEARNING MITIGATION</a:t>
            </a:r>
          </a:p>
          <a:p>
            <a:pPr>
              <a:defRPr sz="1050">
                <a:solidFill>
                  <a:srgbClr val="94A3B8"/>
                </a:solidFill>
              </a:defRPr>
            </a:pPr>
            <a:r>
              <a:t>• Synthetically balanced training avoids penalizing specific industries (e.g. clerical, remote work).</a:t>
            </a:r>
            <a:br/>
            <a:r>
              <a:t>• Prevents algorithmic bias where legitimate small employers without custom domains are unfairly banned.</a:t>
            </a:r>
          </a:p>
        </p:txBody>
      </p:sp>
      <p:sp>
        <p:nvSpPr>
          <p:cNvPr id="8" name="Rounded Rectangle 7"/>
          <p:cNvSpPr/>
          <p:nvPr/>
        </p:nvSpPr>
        <p:spPr>
          <a:xfrm>
            <a:off x="8046720" y="1645920"/>
            <a:ext cx="33832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4114800"/>
          </a:xfrm>
          <a:prstGeom prst="rect">
            <a:avLst/>
          </a:prstGeom>
          <a:noFill/>
        </p:spPr>
        <p:txBody>
          <a:bodyPr wrap="square">
            <a:spAutoFit/>
          </a:bodyPr>
          <a:lstStyle/>
          <a:p>
            <a:pPr>
              <a:spcAft>
                <a:spcPts val="1200"/>
              </a:spcAft>
              <a:defRPr sz="1100" b="1">
                <a:solidFill>
                  <a:srgbClr val="F59E0B"/>
                </a:solidFill>
              </a:defRPr>
            </a:pPr>
            <a:r>
              <a:t>HUMAN RESPONSIBILITY &amp; DECISION LIMITS</a:t>
            </a:r>
          </a:p>
          <a:p>
            <a:pPr>
              <a:defRPr sz="1050">
                <a:solidFill>
                  <a:srgbClr val="94A3B8"/>
                </a:solidFill>
              </a:defRPr>
            </a:pPr>
            <a:r>
              <a:t>• Scam Sentry is an AI-assisted Risk Advisory tool, not a legal arbiter.</a:t>
            </a:r>
            <a:br/>
            <a:r>
              <a:t>• Prominent disclaimer on all reports reminding users to independently verify employers.</a:t>
            </a:r>
            <a:br/>
            <a:r>
              <a:t>• Human-in-the-loop: users make final decisions armed with transparent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14 / GROUP 44 CONTRIBUTION</a:t>
            </a:r>
          </a:p>
          <a:p>
            <a:pPr>
              <a:spcAft>
                <a:spcPts val="200"/>
              </a:spcAft>
              <a:defRPr sz="2200" b="1">
                <a:solidFill>
                  <a:srgbClr val="F8FAFC"/>
                </a:solidFill>
                <a:latin typeface="Arial"/>
              </a:defRPr>
            </a:pPr>
            <a:r>
              <a:t>Work Division &amp; Individual Member Contributions</a:t>
            </a:r>
          </a:p>
          <a:p>
            <a:pPr>
              <a:defRPr sz="1200">
                <a:solidFill>
                  <a:srgbClr val="94A3B8"/>
                </a:solidFill>
                <a:latin typeface="Arial"/>
              </a:defRPr>
            </a:pPr>
            <a:r>
              <a:t>Demonstrating clear individual accountability across the 10-week lifecycle.</a:t>
            </a:r>
          </a:p>
        </p:txBody>
      </p:sp>
      <p:graphicFrame>
        <p:nvGraphicFramePr>
          <p:cNvPr id="4" name="Table 3"/>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377440"/>
                <a:gridCol w="2011680"/>
                <a:gridCol w="4114800"/>
                <a:gridCol w="2194560"/>
              </a:tblGrid>
              <a:tr h="896112">
                <a:tc>
                  <a:txBody>
                    <a:bodyPr/>
                    <a:lstStyle/>
                    <a:p>
                      <a:pPr>
                        <a:defRPr b="1" sz="1000">
                          <a:solidFill>
                            <a:srgbClr val="06B6D4"/>
                          </a:solidFill>
                        </a:defRPr>
                      </a:pPr>
                      <a:r>
                        <a:t>MEMBER NAME</a:t>
                      </a:r>
                    </a:p>
                  </a:txBody>
                  <a:tcPr>
                    <a:solidFill>
                      <a:srgbClr val="1E293B"/>
                    </a:solidFill>
                  </a:tcPr>
                </a:tc>
                <a:tc>
                  <a:txBody>
                    <a:bodyPr/>
                    <a:lstStyle/>
                    <a:p>
                      <a:pPr>
                        <a:defRPr b="1" sz="1000">
                          <a:solidFill>
                            <a:srgbClr val="06B6D4"/>
                          </a:solidFill>
                        </a:defRPr>
                      </a:pPr>
                      <a:r>
                        <a:t>INDEX NUMBER</a:t>
                      </a:r>
                    </a:p>
                  </a:txBody>
                  <a:tcPr>
                    <a:solidFill>
                      <a:srgbClr val="1E293B"/>
                    </a:solidFill>
                  </a:tcPr>
                </a:tc>
                <a:tc>
                  <a:txBody>
                    <a:bodyPr/>
                    <a:lstStyle/>
                    <a:p>
                      <a:pPr>
                        <a:defRPr b="1" sz="1000">
                          <a:solidFill>
                            <a:srgbClr val="06B6D4"/>
                          </a:solidFill>
                        </a:defRPr>
                      </a:pPr>
                      <a:r>
                        <a:t>TECHNICAL RESPONSIBILITIES</a:t>
                      </a:r>
                    </a:p>
                  </a:txBody>
                  <a:tcPr>
                    <a:solidFill>
                      <a:srgbClr val="1E293B"/>
                    </a:solidFill>
                  </a:tcPr>
                </a:tc>
                <a:tc>
                  <a:txBody>
                    <a:bodyPr/>
                    <a:lstStyle/>
                    <a:p>
                      <a:pPr>
                        <a:defRPr b="1" sz="1000">
                          <a:solidFill>
                            <a:srgbClr val="06B6D4"/>
                          </a:solidFill>
                        </a:defRPr>
                      </a:pPr>
                      <a:r>
                        <a:t>STATUS / CONTRIBUTION</a:t>
                      </a:r>
                    </a:p>
                  </a:txBody>
                  <a:tcPr>
                    <a:solidFill>
                      <a:srgbClr val="1E293B"/>
                    </a:solidFill>
                  </a:tcPr>
                </a:tc>
              </a:tr>
              <a:tr h="896112">
                <a:tc>
                  <a:txBody>
                    <a:bodyPr/>
                    <a:lstStyle/>
                    <a:p>
                      <a:pPr>
                        <a:defRPr sz="950">
                          <a:solidFill>
                            <a:srgbClr val="F8FAFC"/>
                          </a:solidFill>
                        </a:defRPr>
                      </a:pPr>
                      <a:r>
                        <a:t>P.D.H.R. Amarakeerthi</a:t>
                      </a:r>
                    </a:p>
                  </a:txBody>
                  <a:tcPr>
                    <a:solidFill>
                      <a:srgbClr val="131B2A"/>
                    </a:solidFill>
                  </a:tcPr>
                </a:tc>
                <a:tc>
                  <a:txBody>
                    <a:bodyPr/>
                    <a:lstStyle/>
                    <a:p>
                      <a:pPr>
                        <a:defRPr sz="950">
                          <a:solidFill>
                            <a:srgbClr val="94A3B8"/>
                          </a:solidFill>
                        </a:defRPr>
                      </a:pPr>
                      <a:r>
                        <a:t>D/COE/25/0025</a:t>
                      </a:r>
                    </a:p>
                  </a:txBody>
                  <a:tcPr>
                    <a:solidFill>
                      <a:srgbClr val="131B2A"/>
                    </a:solidFill>
                  </a:tcPr>
                </a:tc>
                <a:tc>
                  <a:txBody>
                    <a:bodyPr/>
                    <a:lstStyle/>
                    <a:p>
                      <a:pPr>
                        <a:defRPr sz="950">
                          <a:solidFill>
                            <a:srgbClr val="94A3B8"/>
                          </a:solidFill>
                        </a:defRPr>
                      </a:pPr>
                      <a:r>
                        <a:t>System Architecture, AI Model Training Pipeline, Flask API backend, and Tesseract OCR integration.</a:t>
                      </a:r>
                    </a:p>
                  </a:txBody>
                  <a:tcPr>
                    <a:solidFill>
                      <a:srgbClr val="131B2A"/>
                    </a:solidFill>
                  </a:tcPr>
                </a:tc>
                <a:tc>
                  <a:txBody>
                    <a:bodyPr/>
                    <a:lstStyle/>
                    <a:p>
                      <a:pPr>
                        <a:defRPr sz="950">
                          <a:solidFill>
                            <a:srgbClr val="10B981"/>
                          </a:solidFill>
                        </a:defRPr>
                      </a:pPr>
                      <a:r>
                        <a:t>Completed (25%)</a:t>
                      </a:r>
                    </a:p>
                    <a:p>
                      <a:pPr>
                        <a:defRPr sz="950">
                          <a:solidFill>
                            <a:srgbClr val="10B981"/>
                          </a:solidFill>
                        </a:defRPr>
                      </a:pPr>
                      <a:r>
                        <a:t>Model &amp; Backend Lead</a:t>
                      </a:r>
                    </a:p>
                  </a:txBody>
                  <a:tcPr>
                    <a:solidFill>
                      <a:srgbClr val="131B2A"/>
                    </a:solidFill>
                  </a:tcPr>
                </a:tc>
              </a:tr>
              <a:tr h="896112">
                <a:tc>
                  <a:txBody>
                    <a:bodyPr/>
                    <a:lstStyle/>
                    <a:p>
                      <a:pPr>
                        <a:defRPr sz="950">
                          <a:solidFill>
                            <a:srgbClr val="F8FAFC"/>
                          </a:solidFill>
                        </a:defRPr>
                      </a:pPr>
                      <a:r>
                        <a:t>W.M.S.N. Wickramanayaka</a:t>
                      </a:r>
                    </a:p>
                  </a:txBody>
                  <a:tcPr>
                    <a:solidFill>
                      <a:srgbClr val="131B2A"/>
                    </a:solidFill>
                  </a:tcPr>
                </a:tc>
                <a:tc>
                  <a:txBody>
                    <a:bodyPr/>
                    <a:lstStyle/>
                    <a:p>
                      <a:pPr>
                        <a:defRPr sz="950">
                          <a:solidFill>
                            <a:srgbClr val="94A3B8"/>
                          </a:solidFill>
                        </a:defRPr>
                      </a:pPr>
                      <a:r>
                        <a:t>D/BIT/24/0090</a:t>
                      </a:r>
                    </a:p>
                  </a:txBody>
                  <a:tcPr>
                    <a:solidFill>
                      <a:srgbClr val="131B2A"/>
                    </a:solidFill>
                  </a:tcPr>
                </a:tc>
                <a:tc>
                  <a:txBody>
                    <a:bodyPr/>
                    <a:lstStyle/>
                    <a:p>
                      <a:pPr>
                        <a:defRPr sz="950">
                          <a:solidFill>
                            <a:srgbClr val="94A3B8"/>
                          </a:solidFill>
                        </a:defRPr>
                      </a:pPr>
                      <a:r>
                        <a:t>Frontend Architecture, Cyber Glassmorphism UI, HTML5 Canvas animation, Sample Presets, and Git Version Control.</a:t>
                      </a:r>
                    </a:p>
                  </a:txBody>
                  <a:tcPr>
                    <a:solidFill>
                      <a:srgbClr val="131B2A"/>
                    </a:solidFill>
                  </a:tcPr>
                </a:tc>
                <a:tc>
                  <a:txBody>
                    <a:bodyPr/>
                    <a:lstStyle/>
                    <a:p>
                      <a:pPr>
                        <a:defRPr sz="950">
                          <a:solidFill>
                            <a:srgbClr val="10B981"/>
                          </a:solidFill>
                        </a:defRPr>
                      </a:pPr>
                      <a:r>
                        <a:t>Completed (25%)</a:t>
                      </a:r>
                    </a:p>
                    <a:p>
                      <a:pPr>
                        <a:defRPr sz="950">
                          <a:solidFill>
                            <a:srgbClr val="10B981"/>
                          </a:solidFill>
                        </a:defRPr>
                      </a:pPr>
                      <a:r>
                        <a:t>Frontend &amp; UI Lead</a:t>
                      </a:r>
                    </a:p>
                  </a:txBody>
                  <a:tcPr>
                    <a:solidFill>
                      <a:srgbClr val="131B2A"/>
                    </a:solidFill>
                  </a:tcPr>
                </a:tc>
              </a:tr>
              <a:tr h="896112">
                <a:tc>
                  <a:txBody>
                    <a:bodyPr/>
                    <a:lstStyle/>
                    <a:p>
                      <a:pPr>
                        <a:defRPr sz="950">
                          <a:solidFill>
                            <a:srgbClr val="F8FAFC"/>
                          </a:solidFill>
                        </a:defRPr>
                      </a:pPr>
                      <a:r>
                        <a:t>S.Y.N. Peiris</a:t>
                      </a:r>
                    </a:p>
                  </a:txBody>
                  <a:tcPr>
                    <a:solidFill>
                      <a:srgbClr val="131B2A"/>
                    </a:solidFill>
                  </a:tcPr>
                </a:tc>
                <a:tc>
                  <a:txBody>
                    <a:bodyPr/>
                    <a:lstStyle/>
                    <a:p>
                      <a:pPr>
                        <a:defRPr sz="950">
                          <a:solidFill>
                            <a:srgbClr val="94A3B8"/>
                          </a:solidFill>
                        </a:defRPr>
                      </a:pPr>
                      <a:r>
                        <a:t>D/BSE/25/0018</a:t>
                      </a:r>
                    </a:p>
                  </a:txBody>
                  <a:tcPr>
                    <a:solidFill>
                      <a:srgbClr val="131B2A"/>
                    </a:solidFill>
                  </a:tcPr>
                </a:tc>
                <a:tc>
                  <a:txBody>
                    <a:bodyPr/>
                    <a:lstStyle/>
                    <a:p>
                      <a:pPr>
                        <a:defRPr sz="950">
                          <a:solidFill>
                            <a:srgbClr val="94A3B8"/>
                          </a:solidFill>
                        </a:defRPr>
                      </a:pPr>
                      <a:r>
                        <a:t>NLP Preprocessing pipeline, Regex Entity Scrubbing, 13 Heuristic Rule engineering, and Explainable AI synthesis.</a:t>
                      </a:r>
                    </a:p>
                  </a:txBody>
                  <a:tcPr>
                    <a:solidFill>
                      <a:srgbClr val="131B2A"/>
                    </a:solidFill>
                  </a:tcPr>
                </a:tc>
                <a:tc>
                  <a:txBody>
                    <a:bodyPr/>
                    <a:lstStyle/>
                    <a:p>
                      <a:pPr>
                        <a:defRPr sz="950">
                          <a:solidFill>
                            <a:srgbClr val="10B981"/>
                          </a:solidFill>
                        </a:defRPr>
                      </a:pPr>
                      <a:r>
                        <a:t>Completed (25%)</a:t>
                      </a:r>
                    </a:p>
                    <a:p>
                      <a:pPr>
                        <a:defRPr sz="950">
                          <a:solidFill>
                            <a:srgbClr val="10B981"/>
                          </a:solidFill>
                        </a:defRPr>
                      </a:pPr>
                      <a:r>
                        <a:t>Feature Engineering Lead</a:t>
                      </a:r>
                    </a:p>
                  </a:txBody>
                  <a:tcPr>
                    <a:solidFill>
                      <a:srgbClr val="131B2A"/>
                    </a:solidFill>
                  </a:tcPr>
                </a:tc>
              </a:tr>
              <a:tr h="896112">
                <a:tc>
                  <a:txBody>
                    <a:bodyPr/>
                    <a:lstStyle/>
                    <a:p>
                      <a:pPr>
                        <a:defRPr sz="950">
                          <a:solidFill>
                            <a:srgbClr val="F8FAFC"/>
                          </a:solidFill>
                        </a:defRPr>
                      </a:pPr>
                      <a:r>
                        <a:t>D.W.D.O. Amarasinghe</a:t>
                      </a:r>
                    </a:p>
                  </a:txBody>
                  <a:tcPr>
                    <a:solidFill>
                      <a:srgbClr val="131B2A"/>
                    </a:solidFill>
                  </a:tcPr>
                </a:tc>
                <a:tc>
                  <a:txBody>
                    <a:bodyPr/>
                    <a:lstStyle/>
                    <a:p>
                      <a:pPr>
                        <a:defRPr sz="950">
                          <a:solidFill>
                            <a:srgbClr val="94A3B8"/>
                          </a:solidFill>
                        </a:defRPr>
                      </a:pPr>
                      <a:r>
                        <a:t>D/BIS/24/0011</a:t>
                      </a:r>
                    </a:p>
                  </a:txBody>
                  <a:tcPr>
                    <a:solidFill>
                      <a:srgbClr val="131B2A"/>
                    </a:solidFill>
                  </a:tcPr>
                </a:tc>
                <a:tc>
                  <a:txBody>
                    <a:bodyPr/>
                    <a:lstStyle/>
                    <a:p>
                      <a:pPr>
                        <a:defRPr sz="950">
                          <a:solidFill>
                            <a:srgbClr val="94A3B8"/>
                          </a:solidFill>
                        </a:defRPr>
                      </a:pPr>
                      <a:r>
                        <a:t>Dataset Analytics, Synthetic Dataset Balancing, Kaggle EMSCAD preparation, Testing, and Evaluation metrics.</a:t>
                      </a:r>
                    </a:p>
                  </a:txBody>
                  <a:tcPr>
                    <a:solidFill>
                      <a:srgbClr val="131B2A"/>
                    </a:solidFill>
                  </a:tcPr>
                </a:tc>
                <a:tc>
                  <a:txBody>
                    <a:bodyPr/>
                    <a:lstStyle/>
                    <a:p>
                      <a:pPr>
                        <a:defRPr sz="950">
                          <a:solidFill>
                            <a:srgbClr val="10B981"/>
                          </a:solidFill>
                        </a:defRPr>
                      </a:pPr>
                      <a:r>
                        <a:t>Completed (25%)</a:t>
                      </a:r>
                    </a:p>
                    <a:p>
                      <a:pPr>
                        <a:defRPr sz="950">
                          <a:solidFill>
                            <a:srgbClr val="10B981"/>
                          </a:solidFill>
                        </a:defRPr>
                      </a:pPr>
                      <a:r>
                        <a:t>Dataset &amp; Testing Lead</a:t>
                      </a:r>
                    </a:p>
                  </a:txBody>
                  <a:tcPr>
                    <a:solidFill>
                      <a:srgbClr val="131B2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06B6D4"/>
                </a:solidFill>
                <a:latin typeface="Arial"/>
              </a:defRPr>
            </a:pPr>
            <a:r>
              <a:t>15 / PROJECT WRAP-UP</a:t>
            </a:r>
          </a:p>
          <a:p>
            <a:pPr>
              <a:spcAft>
                <a:spcPts val="200"/>
              </a:spcAft>
              <a:defRPr sz="2200" b="1">
                <a:solidFill>
                  <a:srgbClr val="F8FAFC"/>
                </a:solidFill>
                <a:latin typeface="Arial"/>
              </a:defRPr>
            </a:pPr>
            <a:r>
              <a:t>Current Status, Future Roadmap &amp; Conclusion</a:t>
            </a:r>
          </a:p>
          <a:p>
            <a:pPr>
              <a:defRPr sz="1200">
                <a:solidFill>
                  <a:srgbClr val="94A3B8"/>
                </a:solidFill>
                <a:latin typeface="Arial"/>
              </a:defRPr>
            </a:pPr>
            <a:r>
              <a:t>Scam Sentry successfully bridges the gap between machine intelligence and user safety.</a:t>
            </a:r>
          </a:p>
        </p:txBody>
      </p:sp>
      <p:sp>
        <p:nvSpPr>
          <p:cNvPr id="4" name="Rounded Rectangle 3"/>
          <p:cNvSpPr/>
          <p:nvPr/>
        </p:nvSpPr>
        <p:spPr>
          <a:xfrm>
            <a:off x="731520" y="1645920"/>
            <a:ext cx="52120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846320" cy="4114800"/>
          </a:xfrm>
          <a:prstGeom prst="rect">
            <a:avLst/>
          </a:prstGeom>
          <a:noFill/>
        </p:spPr>
        <p:txBody>
          <a:bodyPr wrap="square">
            <a:spAutoFit/>
          </a:bodyPr>
          <a:lstStyle/>
          <a:p>
            <a:pPr>
              <a:spcAft>
                <a:spcPts val="800"/>
              </a:spcAft>
              <a:defRPr sz="1300" b="1">
                <a:solidFill>
                  <a:srgbClr val="06B6D4"/>
                </a:solidFill>
              </a:defRPr>
            </a:pPr>
            <a:r>
              <a:t>PLANNED FINAL PHASE (STAGE 3)</a:t>
            </a:r>
          </a:p>
          <a:p>
            <a:pPr>
              <a:defRPr sz="1050">
                <a:solidFill>
                  <a:srgbClr val="94A3B8"/>
                </a:solidFill>
              </a:defRPr>
            </a:pPr>
            <a:r>
              <a:t>• Full Kaggle EMSCAD Dataset Integration (17,880 ads).</a:t>
            </a:r>
            <a:br/>
            <a:r>
              <a:t>• Algorithm Comparison Matrix:</a:t>
            </a:r>
            <a:br/>
            <a:r>
              <a:t>  Benchmarking Logistic Regression, Naive Bayes, Random Forest, SVM, and XGBoost.</a:t>
            </a:r>
            <a:br/>
            <a:r>
              <a:t>• Live Domain &amp; WHOIS Verification:</a:t>
            </a:r>
            <a:br/>
            <a:r>
              <a:t>  Detecting newly registered recruiter domains (&lt; 30 days old).</a:t>
            </a:r>
            <a:br/>
            <a:r>
              <a:t>• Browser Extension Prototype:</a:t>
            </a:r>
            <a:br/>
            <a:r>
              <a:t>  Real-time inline scanning of LinkedIn and Indeed job postings.</a:t>
            </a:r>
          </a:p>
        </p:txBody>
      </p:sp>
      <p:sp>
        <p:nvSpPr>
          <p:cNvPr id="6" name="Rounded Rectangle 5"/>
          <p:cNvSpPr/>
          <p:nvPr/>
        </p:nvSpPr>
        <p:spPr>
          <a:xfrm>
            <a:off x="6217920" y="1645920"/>
            <a:ext cx="5212080" cy="4480560"/>
          </a:xfrm>
          <a:prstGeom prst="roundRect">
            <a:avLst/>
          </a:prstGeom>
          <a:solidFill>
            <a:srgbClr val="131B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846320" cy="4114800"/>
          </a:xfrm>
          <a:prstGeom prst="rect">
            <a:avLst/>
          </a:prstGeom>
          <a:noFill/>
        </p:spPr>
        <p:txBody>
          <a:bodyPr wrap="square">
            <a:spAutoFit/>
          </a:bodyPr>
          <a:lstStyle/>
          <a:p>
            <a:pPr>
              <a:spcAft>
                <a:spcPts val="800"/>
              </a:spcAft>
              <a:defRPr sz="1300" b="1">
                <a:solidFill>
                  <a:srgbClr val="10B981"/>
                </a:solidFill>
              </a:defRPr>
            </a:pPr>
            <a:r>
              <a:t>CONCLUSION &amp; Q&amp;A</a:t>
            </a:r>
          </a:p>
          <a:p>
            <a:pPr>
              <a:defRPr sz="1100">
                <a:solidFill>
                  <a:srgbClr val="F8FAFC"/>
                </a:solidFill>
              </a:defRPr>
            </a:pPr>
            <a:r>
              <a:t>• Project completion is currently at ~70-75%, advancing from initial concept to a working multimodal prototype.</a:t>
            </a:r>
            <a:br/>
            <a:r>
              <a:t>• We proved that combining rule-based heuristics with machine learning eliminates shortcut learning while preserving explainability.</a:t>
            </a:r>
            <a:br/>
            <a:br/>
            <a:r>
              <a:t>THANK YOU!</a:t>
            </a:r>
            <a:br/>
            <a:r>
              <a:t>General Sir John Kotelawala Defence University — Group 44</a:t>
            </a:r>
            <a:br/>
            <a:br/>
            <a:r>
              <a:t>We welcome your 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